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9" r:id="rId5"/>
  </p:sldIdLst>
  <p:sldSz cx="32918400" cy="38404800"/>
  <p:notesSz cx="6799263" cy="9929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781050" indent="-407988" algn="l" rtl="0" eaLnBrk="0" fontAlgn="base" hangingPunct="0">
      <a:spcBef>
        <a:spcPct val="0"/>
      </a:spcBef>
      <a:spcAft>
        <a:spcPct val="0"/>
      </a:spcAft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563688" indent="-815975" algn="l" rtl="0" eaLnBrk="0" fontAlgn="base" hangingPunct="0">
      <a:spcBef>
        <a:spcPct val="0"/>
      </a:spcBef>
      <a:spcAft>
        <a:spcPct val="0"/>
      </a:spcAft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347913" indent="-1227138" algn="l" rtl="0" eaLnBrk="0" fontAlgn="base" hangingPunct="0">
      <a:spcBef>
        <a:spcPct val="0"/>
      </a:spcBef>
      <a:spcAft>
        <a:spcPct val="0"/>
      </a:spcAft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128963" indent="-1635125" algn="l" rtl="0" eaLnBrk="0" fontAlgn="base" hangingPunct="0">
      <a:spcBef>
        <a:spcPct val="0"/>
      </a:spcBef>
      <a:spcAft>
        <a:spcPct val="0"/>
      </a:spcAft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8100" kern="1200">
        <a:solidFill>
          <a:schemeClr val="tx2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96" userDrawn="1">
          <p15:clr>
            <a:srgbClr val="A4A3A4"/>
          </p15:clr>
        </p15:guide>
        <p15:guide id="2" orient="horz" pos="23905" userDrawn="1">
          <p15:clr>
            <a:srgbClr val="A4A3A4"/>
          </p15:clr>
        </p15:guide>
        <p15:guide id="3" orient="horz" pos="4032" userDrawn="1">
          <p15:clr>
            <a:srgbClr val="A4A3A4"/>
          </p15:clr>
        </p15:guide>
        <p15:guide id="4" orient="horz" pos="289" userDrawn="1">
          <p15:clr>
            <a:srgbClr val="A4A3A4"/>
          </p15:clr>
        </p15:guide>
        <p15:guide id="5" orient="horz" pos="5472" userDrawn="1">
          <p15:clr>
            <a:srgbClr val="A4A3A4"/>
          </p15:clr>
        </p15:guide>
        <p15:guide id="6" orient="horz" pos="1008" userDrawn="1">
          <p15:clr>
            <a:srgbClr val="A4A3A4"/>
          </p15:clr>
        </p15:guide>
        <p15:guide id="7" orient="horz" pos="12432" userDrawn="1">
          <p15:clr>
            <a:srgbClr val="A4A3A4"/>
          </p15:clr>
        </p15:guide>
        <p15:guide id="8" pos="10368" userDrawn="1">
          <p15:clr>
            <a:srgbClr val="A4A3A4"/>
          </p15:clr>
        </p15:guide>
        <p15:guide id="9" pos="6696" userDrawn="1">
          <p15:clr>
            <a:srgbClr val="A4A3A4"/>
          </p15:clr>
        </p15:guide>
        <p15:guide id="10" pos="20045" userDrawn="1">
          <p15:clr>
            <a:srgbClr val="A4A3A4"/>
          </p15:clr>
        </p15:guide>
        <p15:guide id="11" pos="13608" userDrawn="1">
          <p15:clr>
            <a:srgbClr val="A4A3A4"/>
          </p15:clr>
        </p15:guide>
        <p15:guide id="12" pos="216" userDrawn="1">
          <p15:clr>
            <a:srgbClr val="A4A3A4"/>
          </p15:clr>
        </p15:guide>
        <p15:guide id="13" pos="14040" userDrawn="1">
          <p15:clr>
            <a:srgbClr val="A4A3A4"/>
          </p15:clr>
        </p15:guide>
        <p15:guide id="14" pos="7128" userDrawn="1">
          <p15:clr>
            <a:srgbClr val="A4A3A4"/>
          </p15:clr>
        </p15:guide>
        <p15:guide id="15" pos="20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C0C"/>
    <a:srgbClr val="2163A1"/>
    <a:srgbClr val="E2EBFD"/>
    <a:srgbClr val="DEE8F4"/>
    <a:srgbClr val="B4D5E5"/>
    <a:srgbClr val="B6C7DA"/>
    <a:srgbClr val="0F7346"/>
    <a:srgbClr val="80C4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06" autoAdjust="0"/>
  </p:normalViewPr>
  <p:slideViewPr>
    <p:cSldViewPr>
      <p:cViewPr>
        <p:scale>
          <a:sx n="40" d="100"/>
          <a:sy n="40" d="100"/>
        </p:scale>
        <p:origin x="24" y="-840"/>
      </p:cViewPr>
      <p:guideLst>
        <p:guide orient="horz" pos="12096"/>
        <p:guide orient="horz" pos="23905"/>
        <p:guide orient="horz" pos="4032"/>
        <p:guide orient="horz" pos="289"/>
        <p:guide orient="horz" pos="5472"/>
        <p:guide orient="horz" pos="1008"/>
        <p:guide orient="horz" pos="12432"/>
        <p:guide pos="10368"/>
        <p:guide pos="6696"/>
        <p:guide pos="20045"/>
        <p:guide pos="13608"/>
        <p:guide pos="216"/>
        <p:guide pos="14040"/>
        <p:guide pos="7128"/>
        <p:guide pos="20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228600" cy="2286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4262CF9-9CD6-A72B-F6BC-79468A32D3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t" anchorCtr="0" compatLnSpc="1">
            <a:prstTxWarp prst="textNoShape">
              <a:avLst/>
            </a:prstTxWarp>
          </a:bodyPr>
          <a:lstStyle>
            <a:lvl1pPr algn="l" defTabSz="918106" eaLnBrk="1" hangingPunct="1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C175F1E-856F-A49F-56BA-8F3D8488CF5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856" y="0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t" anchorCtr="0" compatLnSpc="1">
            <a:prstTxWarp prst="textNoShape">
              <a:avLst/>
            </a:prstTxWarp>
          </a:bodyPr>
          <a:lstStyle>
            <a:lvl1pPr algn="r" defTabSz="918106" eaLnBrk="1" hangingPunct="1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FD58448E-7A83-A592-D507-A1DBFCA4FAD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606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b" anchorCtr="0" compatLnSpc="1">
            <a:prstTxWarp prst="textNoShape">
              <a:avLst/>
            </a:prstTxWarp>
          </a:bodyPr>
          <a:lstStyle>
            <a:lvl1pPr algn="l" defTabSz="918106" eaLnBrk="1" hangingPunct="1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8E22F9F8-7064-50C1-376D-5E920C3F134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856" y="9430606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D8347D2-29FF-4E22-87EA-40DAA43D5C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A8354BF-BE53-9BEE-0B65-9B0D48ABC6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t" anchorCtr="0" compatLnSpc="1">
            <a:prstTxWarp prst="textNoShape">
              <a:avLst/>
            </a:prstTxWarp>
          </a:bodyPr>
          <a:lstStyle>
            <a:lvl1pPr algn="l" defTabSz="918106" eaLnBrk="1" hangingPunct="1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4459683-BAC1-EF38-3FE8-1A4F02E5BF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0856" y="0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t" anchorCtr="0" compatLnSpc="1">
            <a:prstTxWarp prst="textNoShape">
              <a:avLst/>
            </a:prstTxWarp>
          </a:bodyPr>
          <a:lstStyle>
            <a:lvl1pPr algn="r" defTabSz="918106" eaLnBrk="1" hangingPunct="1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8945DCC-947E-BAD4-744F-3B759C7B52F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806575" y="746125"/>
            <a:ext cx="318770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71A3D06A-4A45-4C3B-324E-EF1DA3332C4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7001"/>
            <a:ext cx="5439410" cy="4467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3FC44F57-80F6-C4B1-DF38-99E89BB46AA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606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b" anchorCtr="0" compatLnSpc="1">
            <a:prstTxWarp prst="textNoShape">
              <a:avLst/>
            </a:prstTxWarp>
          </a:bodyPr>
          <a:lstStyle>
            <a:lvl1pPr algn="l" defTabSz="918106" eaLnBrk="1" hangingPunct="1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C088073E-29EA-9CDE-2702-4A4E236D1F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856" y="9430606"/>
            <a:ext cx="2946863" cy="49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91" tIns="45896" rIns="91791" bIns="45896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906C761-7B73-4AA9-A311-999A1757EE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MS PGothic" panose="020B0600070205080204" pitchFamily="34" charset="-128"/>
        <a:cs typeface="ＭＳ Ｐゴシック" charset="0"/>
      </a:defRPr>
    </a:lvl1pPr>
    <a:lvl2pPr marL="78105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MS PGothic" panose="020B0600070205080204" pitchFamily="34" charset="-128"/>
        <a:cs typeface="+mn-cs"/>
      </a:defRPr>
    </a:lvl2pPr>
    <a:lvl3pPr marL="1563688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MS PGothic" panose="020B0600070205080204" pitchFamily="34" charset="-128"/>
        <a:cs typeface="+mn-cs"/>
      </a:defRPr>
    </a:lvl3pPr>
    <a:lvl4pPr marL="2347913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MS PGothic" panose="020B0600070205080204" pitchFamily="34" charset="-128"/>
        <a:cs typeface="+mn-cs"/>
      </a:defRPr>
    </a:lvl4pPr>
    <a:lvl5pPr marL="3128963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-65" charset="0"/>
        <a:ea typeface="MS PGothic" panose="020B0600070205080204" pitchFamily="34" charset="-128"/>
        <a:cs typeface="+mn-cs"/>
      </a:defRPr>
    </a:lvl5pPr>
    <a:lvl6pPr marL="3914083" algn="l" defTabSz="782816" rtl="0" eaLnBrk="1" latinLnBrk="0" hangingPunct="1">
      <a:defRPr sz="2043" kern="1200">
        <a:solidFill>
          <a:schemeClr val="tx1"/>
        </a:solidFill>
        <a:latin typeface="+mn-lt"/>
        <a:ea typeface="+mn-ea"/>
        <a:cs typeface="+mn-cs"/>
      </a:defRPr>
    </a:lvl6pPr>
    <a:lvl7pPr marL="4696900" algn="l" defTabSz="782816" rtl="0" eaLnBrk="1" latinLnBrk="0" hangingPunct="1">
      <a:defRPr sz="2043" kern="1200">
        <a:solidFill>
          <a:schemeClr val="tx1"/>
        </a:solidFill>
        <a:latin typeface="+mn-lt"/>
        <a:ea typeface="+mn-ea"/>
        <a:cs typeface="+mn-cs"/>
      </a:defRPr>
    </a:lvl7pPr>
    <a:lvl8pPr marL="5479717" algn="l" defTabSz="782816" rtl="0" eaLnBrk="1" latinLnBrk="0" hangingPunct="1">
      <a:defRPr sz="2043" kern="1200">
        <a:solidFill>
          <a:schemeClr val="tx1"/>
        </a:solidFill>
        <a:latin typeface="+mn-lt"/>
        <a:ea typeface="+mn-ea"/>
        <a:cs typeface="+mn-cs"/>
      </a:defRPr>
    </a:lvl8pPr>
    <a:lvl9pPr marL="6262534" algn="l" defTabSz="782816" rtl="0" eaLnBrk="1" latinLnBrk="0" hangingPunct="1">
      <a:defRPr sz="20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06C761-7B73-4AA9-A311-999A1757EE5C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989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61" y="11931142"/>
            <a:ext cx="27979686" cy="8230658"/>
          </a:xfrm>
          <a:prstGeom prst="rect">
            <a:avLst/>
          </a:prstGeom>
        </p:spPr>
        <p:txBody>
          <a:bodyPr vert="horz" lIns="191585" tIns="95793" rIns="191585" bIns="9579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718" y="21761999"/>
            <a:ext cx="23040978" cy="9816043"/>
          </a:xfrm>
          <a:prstGeom prst="rect">
            <a:avLst/>
          </a:prstGeom>
        </p:spPr>
        <p:txBody>
          <a:bodyPr vert="horz" lIns="191585" tIns="95793" rIns="191585" bIns="95793"/>
          <a:lstStyle>
            <a:lvl1pPr marL="0" indent="0" algn="ctr">
              <a:buNone/>
              <a:defRPr/>
            </a:lvl1pPr>
            <a:lvl2pPr marL="783736" indent="0" algn="ctr">
              <a:buNone/>
              <a:defRPr/>
            </a:lvl2pPr>
            <a:lvl3pPr marL="1567472" indent="0" algn="ctr">
              <a:buNone/>
              <a:defRPr/>
            </a:lvl3pPr>
            <a:lvl4pPr marL="2351208" indent="0" algn="ctr">
              <a:buNone/>
              <a:defRPr/>
            </a:lvl4pPr>
            <a:lvl5pPr marL="3134945" indent="0" algn="ctr">
              <a:buNone/>
              <a:defRPr/>
            </a:lvl5pPr>
            <a:lvl6pPr marL="3918682" indent="0" algn="ctr">
              <a:buNone/>
              <a:defRPr/>
            </a:lvl6pPr>
            <a:lvl7pPr marL="4702418" indent="0" algn="ctr">
              <a:buNone/>
              <a:defRPr/>
            </a:lvl7pPr>
            <a:lvl8pPr marL="5486154" indent="0" algn="ctr">
              <a:buNone/>
              <a:defRPr/>
            </a:lvl8pPr>
            <a:lvl9pPr marL="626989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7502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7" y="1537229"/>
            <a:ext cx="29627514" cy="6400800"/>
          </a:xfrm>
          <a:prstGeom prst="rect">
            <a:avLst/>
          </a:prstGeom>
        </p:spPr>
        <p:txBody>
          <a:bodyPr vert="horz" lIns="191585" tIns="95793" rIns="191585" bIns="9579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447" y="8960381"/>
            <a:ext cx="29627514" cy="25347612"/>
          </a:xfrm>
          <a:prstGeom prst="rect">
            <a:avLst/>
          </a:prstGeom>
        </p:spPr>
        <p:txBody>
          <a:bodyPr vert="horz" lIns="191585" tIns="95793" rIns="191585" bIns="9579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357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9" y="24677163"/>
            <a:ext cx="27979686" cy="7630584"/>
          </a:xfrm>
          <a:prstGeom prst="rect">
            <a:avLst/>
          </a:prstGeom>
        </p:spPr>
        <p:txBody>
          <a:bodyPr vert="horz" lIns="191585" tIns="95793" rIns="191585" bIns="95793" anchor="t"/>
          <a:lstStyle>
            <a:lvl1pPr algn="l">
              <a:defRPr sz="687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9" y="16276115"/>
            <a:ext cx="27979686" cy="8401050"/>
          </a:xfrm>
          <a:prstGeom prst="rect">
            <a:avLst/>
          </a:prstGeom>
        </p:spPr>
        <p:txBody>
          <a:bodyPr vert="horz" lIns="191585" tIns="95793" rIns="191585" bIns="95793" anchor="b"/>
          <a:lstStyle>
            <a:lvl1pPr marL="0" indent="0">
              <a:buNone/>
              <a:defRPr sz="3437"/>
            </a:lvl1pPr>
            <a:lvl2pPr marL="783736" indent="0">
              <a:buNone/>
              <a:defRPr sz="3109"/>
            </a:lvl2pPr>
            <a:lvl3pPr marL="1567472" indent="0">
              <a:buNone/>
              <a:defRPr sz="2782"/>
            </a:lvl3pPr>
            <a:lvl4pPr marL="2351208" indent="0">
              <a:buNone/>
              <a:defRPr sz="2372"/>
            </a:lvl4pPr>
            <a:lvl5pPr marL="3134945" indent="0">
              <a:buNone/>
              <a:defRPr sz="2372"/>
            </a:lvl5pPr>
            <a:lvl6pPr marL="3918682" indent="0">
              <a:buNone/>
              <a:defRPr sz="2372"/>
            </a:lvl6pPr>
            <a:lvl7pPr marL="4702418" indent="0">
              <a:buNone/>
              <a:defRPr sz="2372"/>
            </a:lvl7pPr>
            <a:lvl8pPr marL="5486154" indent="0">
              <a:buNone/>
              <a:defRPr sz="2372"/>
            </a:lvl8pPr>
            <a:lvl9pPr marL="6269891" indent="0">
              <a:buNone/>
              <a:defRPr sz="23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95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7" y="1537229"/>
            <a:ext cx="29627514" cy="6400800"/>
          </a:xfrm>
          <a:prstGeom prst="rect">
            <a:avLst/>
          </a:prstGeom>
        </p:spPr>
        <p:txBody>
          <a:bodyPr vert="horz" lIns="191585" tIns="95793" rIns="191585" bIns="9579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52" y="8960381"/>
            <a:ext cx="14699455" cy="25347612"/>
          </a:xfrm>
          <a:prstGeom prst="rect">
            <a:avLst/>
          </a:prstGeom>
        </p:spPr>
        <p:txBody>
          <a:bodyPr vert="horz" lIns="191585" tIns="95793" rIns="191585" bIns="95793"/>
          <a:lstStyle>
            <a:lvl1pPr>
              <a:defRPr sz="4828"/>
            </a:lvl1pPr>
            <a:lvl2pPr>
              <a:defRPr sz="4091"/>
            </a:lvl2pPr>
            <a:lvl3pPr>
              <a:defRPr sz="3437"/>
            </a:lvl3pPr>
            <a:lvl4pPr>
              <a:defRPr sz="3109"/>
            </a:lvl4pPr>
            <a:lvl5pPr>
              <a:defRPr sz="3109"/>
            </a:lvl5pPr>
            <a:lvl6pPr>
              <a:defRPr sz="3109"/>
            </a:lvl6pPr>
            <a:lvl7pPr>
              <a:defRPr sz="3109"/>
            </a:lvl7pPr>
            <a:lvl8pPr>
              <a:defRPr sz="3109"/>
            </a:lvl8pPr>
            <a:lvl9pPr>
              <a:defRPr sz="3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73501" y="8960381"/>
            <a:ext cx="14699458" cy="25347612"/>
          </a:xfrm>
          <a:prstGeom prst="rect">
            <a:avLst/>
          </a:prstGeom>
        </p:spPr>
        <p:txBody>
          <a:bodyPr vert="horz" lIns="191585" tIns="95793" rIns="191585" bIns="95793"/>
          <a:lstStyle>
            <a:lvl1pPr>
              <a:defRPr sz="4828"/>
            </a:lvl1pPr>
            <a:lvl2pPr>
              <a:defRPr sz="4091"/>
            </a:lvl2pPr>
            <a:lvl3pPr>
              <a:defRPr sz="3437"/>
            </a:lvl3pPr>
            <a:lvl4pPr>
              <a:defRPr sz="3109"/>
            </a:lvl4pPr>
            <a:lvl5pPr>
              <a:defRPr sz="3109"/>
            </a:lvl5pPr>
            <a:lvl6pPr>
              <a:defRPr sz="3109"/>
            </a:lvl6pPr>
            <a:lvl7pPr>
              <a:defRPr sz="3109"/>
            </a:lvl7pPr>
            <a:lvl8pPr>
              <a:defRPr sz="3109"/>
            </a:lvl8pPr>
            <a:lvl9pPr>
              <a:defRPr sz="3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534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7" y="1537229"/>
            <a:ext cx="29627514" cy="6400800"/>
          </a:xfrm>
          <a:prstGeom prst="rect">
            <a:avLst/>
          </a:prstGeom>
        </p:spPr>
        <p:txBody>
          <a:bodyPr vert="horz" lIns="191585" tIns="95793" rIns="191585" bIns="95793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50" y="8597372"/>
            <a:ext cx="14544676" cy="3581928"/>
          </a:xfrm>
          <a:prstGeom prst="rect">
            <a:avLst/>
          </a:prstGeom>
        </p:spPr>
        <p:txBody>
          <a:bodyPr vert="horz" lIns="191585" tIns="95793" rIns="191585" bIns="95793" anchor="b"/>
          <a:lstStyle>
            <a:lvl1pPr marL="0" indent="0">
              <a:buNone/>
              <a:defRPr sz="4091" b="1"/>
            </a:lvl1pPr>
            <a:lvl2pPr marL="783736" indent="0">
              <a:buNone/>
              <a:defRPr sz="3437" b="1"/>
            </a:lvl2pPr>
            <a:lvl3pPr marL="1567472" indent="0">
              <a:buNone/>
              <a:defRPr sz="3109" b="1"/>
            </a:lvl3pPr>
            <a:lvl4pPr marL="2351208" indent="0">
              <a:buNone/>
              <a:defRPr sz="2782" b="1"/>
            </a:lvl4pPr>
            <a:lvl5pPr marL="3134945" indent="0">
              <a:buNone/>
              <a:defRPr sz="2782" b="1"/>
            </a:lvl5pPr>
            <a:lvl6pPr marL="3918682" indent="0">
              <a:buNone/>
              <a:defRPr sz="2782" b="1"/>
            </a:lvl6pPr>
            <a:lvl7pPr marL="4702418" indent="0">
              <a:buNone/>
              <a:defRPr sz="2782" b="1"/>
            </a:lvl7pPr>
            <a:lvl8pPr marL="5486154" indent="0">
              <a:buNone/>
              <a:defRPr sz="2782" b="1"/>
            </a:lvl8pPr>
            <a:lvl9pPr marL="6269891" indent="0">
              <a:buNone/>
              <a:defRPr sz="27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50" y="12179308"/>
            <a:ext cx="14544676" cy="22128692"/>
          </a:xfrm>
          <a:prstGeom prst="rect">
            <a:avLst/>
          </a:prstGeom>
        </p:spPr>
        <p:txBody>
          <a:bodyPr vert="horz" lIns="191585" tIns="95793" rIns="191585" bIns="95793"/>
          <a:lstStyle>
            <a:lvl1pPr>
              <a:defRPr sz="4091"/>
            </a:lvl1pPr>
            <a:lvl2pPr>
              <a:defRPr sz="3437"/>
            </a:lvl2pPr>
            <a:lvl3pPr>
              <a:defRPr sz="3109"/>
            </a:lvl3pPr>
            <a:lvl4pPr>
              <a:defRPr sz="2782"/>
            </a:lvl4pPr>
            <a:lvl5pPr>
              <a:defRPr sz="2782"/>
            </a:lvl5pPr>
            <a:lvl6pPr>
              <a:defRPr sz="2782"/>
            </a:lvl6pPr>
            <a:lvl7pPr>
              <a:defRPr sz="2782"/>
            </a:lvl7pPr>
            <a:lvl8pPr>
              <a:defRPr sz="2782"/>
            </a:lvl8pPr>
            <a:lvl9pPr>
              <a:defRPr sz="27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1141" y="8597372"/>
            <a:ext cx="14551819" cy="3581928"/>
          </a:xfrm>
          <a:prstGeom prst="rect">
            <a:avLst/>
          </a:prstGeom>
        </p:spPr>
        <p:txBody>
          <a:bodyPr vert="horz" lIns="191585" tIns="95793" rIns="191585" bIns="95793" anchor="b"/>
          <a:lstStyle>
            <a:lvl1pPr marL="0" indent="0">
              <a:buNone/>
              <a:defRPr sz="4091" b="1"/>
            </a:lvl1pPr>
            <a:lvl2pPr marL="783736" indent="0">
              <a:buNone/>
              <a:defRPr sz="3437" b="1"/>
            </a:lvl2pPr>
            <a:lvl3pPr marL="1567472" indent="0">
              <a:buNone/>
              <a:defRPr sz="3109" b="1"/>
            </a:lvl3pPr>
            <a:lvl4pPr marL="2351208" indent="0">
              <a:buNone/>
              <a:defRPr sz="2782" b="1"/>
            </a:lvl4pPr>
            <a:lvl5pPr marL="3134945" indent="0">
              <a:buNone/>
              <a:defRPr sz="2782" b="1"/>
            </a:lvl5pPr>
            <a:lvl6pPr marL="3918682" indent="0">
              <a:buNone/>
              <a:defRPr sz="2782" b="1"/>
            </a:lvl6pPr>
            <a:lvl7pPr marL="4702418" indent="0">
              <a:buNone/>
              <a:defRPr sz="2782" b="1"/>
            </a:lvl7pPr>
            <a:lvl8pPr marL="5486154" indent="0">
              <a:buNone/>
              <a:defRPr sz="2782" b="1"/>
            </a:lvl8pPr>
            <a:lvl9pPr marL="6269891" indent="0">
              <a:buNone/>
              <a:defRPr sz="27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1141" y="12179308"/>
            <a:ext cx="14551819" cy="22128692"/>
          </a:xfrm>
          <a:prstGeom prst="rect">
            <a:avLst/>
          </a:prstGeom>
        </p:spPr>
        <p:txBody>
          <a:bodyPr vert="horz" lIns="191585" tIns="95793" rIns="191585" bIns="95793"/>
          <a:lstStyle>
            <a:lvl1pPr>
              <a:defRPr sz="4091"/>
            </a:lvl1pPr>
            <a:lvl2pPr>
              <a:defRPr sz="3437"/>
            </a:lvl2pPr>
            <a:lvl3pPr>
              <a:defRPr sz="3109"/>
            </a:lvl3pPr>
            <a:lvl4pPr>
              <a:defRPr sz="2782"/>
            </a:lvl4pPr>
            <a:lvl5pPr>
              <a:defRPr sz="2782"/>
            </a:lvl5pPr>
            <a:lvl6pPr>
              <a:defRPr sz="2782"/>
            </a:lvl6pPr>
            <a:lvl7pPr>
              <a:defRPr sz="2782"/>
            </a:lvl7pPr>
            <a:lvl8pPr>
              <a:defRPr sz="2782"/>
            </a:lvl8pPr>
            <a:lvl9pPr>
              <a:defRPr sz="27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77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7" y="1537229"/>
            <a:ext cx="29627514" cy="6400800"/>
          </a:xfrm>
          <a:prstGeom prst="rect">
            <a:avLst/>
          </a:prstGeom>
        </p:spPr>
        <p:txBody>
          <a:bodyPr vert="horz" lIns="191585" tIns="95793" rIns="191585" bIns="95793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170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539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9" y="1529835"/>
            <a:ext cx="10829926" cy="6508219"/>
          </a:xfrm>
          <a:prstGeom prst="rect">
            <a:avLst/>
          </a:prstGeom>
        </p:spPr>
        <p:txBody>
          <a:bodyPr vert="horz" lIns="191585" tIns="95793" rIns="191585" bIns="95793" anchor="b"/>
          <a:lstStyle>
            <a:lvl1pPr algn="l">
              <a:defRPr sz="343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8" y="1529845"/>
            <a:ext cx="18402300" cy="32778170"/>
          </a:xfrm>
          <a:prstGeom prst="rect">
            <a:avLst/>
          </a:prstGeom>
        </p:spPr>
        <p:txBody>
          <a:bodyPr vert="horz" lIns="191585" tIns="95793" rIns="191585" bIns="95793"/>
          <a:lstStyle>
            <a:lvl1pPr>
              <a:defRPr sz="5482"/>
            </a:lvl1pPr>
            <a:lvl2pPr>
              <a:defRPr sz="4828"/>
            </a:lvl2pPr>
            <a:lvl3pPr>
              <a:defRPr sz="4091"/>
            </a:lvl3pPr>
            <a:lvl4pPr>
              <a:defRPr sz="3437"/>
            </a:lvl4pPr>
            <a:lvl5pPr>
              <a:defRPr sz="3437"/>
            </a:lvl5pPr>
            <a:lvl6pPr>
              <a:defRPr sz="3437"/>
            </a:lvl6pPr>
            <a:lvl7pPr>
              <a:defRPr sz="3437"/>
            </a:lvl7pPr>
            <a:lvl8pPr>
              <a:defRPr sz="3437"/>
            </a:lvl8pPr>
            <a:lvl9pPr>
              <a:defRPr sz="34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9" y="8038043"/>
            <a:ext cx="10829926" cy="26269950"/>
          </a:xfrm>
          <a:prstGeom prst="rect">
            <a:avLst/>
          </a:prstGeom>
        </p:spPr>
        <p:txBody>
          <a:bodyPr vert="horz" lIns="191585" tIns="95793" rIns="191585" bIns="95793"/>
          <a:lstStyle>
            <a:lvl1pPr marL="0" indent="0">
              <a:buNone/>
              <a:defRPr sz="2372"/>
            </a:lvl1pPr>
            <a:lvl2pPr marL="783736" indent="0">
              <a:buNone/>
              <a:defRPr sz="2046"/>
            </a:lvl2pPr>
            <a:lvl3pPr marL="1567472" indent="0">
              <a:buNone/>
              <a:defRPr sz="1718"/>
            </a:lvl3pPr>
            <a:lvl4pPr marL="2351208" indent="0">
              <a:buNone/>
              <a:defRPr sz="1554"/>
            </a:lvl4pPr>
            <a:lvl5pPr marL="3134945" indent="0">
              <a:buNone/>
              <a:defRPr sz="1554"/>
            </a:lvl5pPr>
            <a:lvl6pPr marL="3918682" indent="0">
              <a:buNone/>
              <a:defRPr sz="1554"/>
            </a:lvl6pPr>
            <a:lvl7pPr marL="4702418" indent="0">
              <a:buNone/>
              <a:defRPr sz="1554"/>
            </a:lvl7pPr>
            <a:lvl8pPr marL="5486154" indent="0">
              <a:buNone/>
              <a:defRPr sz="1554"/>
            </a:lvl8pPr>
            <a:lvl9pPr marL="6269891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664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3191" y="26884856"/>
            <a:ext cx="19750086" cy="3170766"/>
          </a:xfrm>
          <a:prstGeom prst="rect">
            <a:avLst/>
          </a:prstGeom>
        </p:spPr>
        <p:txBody>
          <a:bodyPr vert="horz" lIns="191585" tIns="95793" rIns="191585" bIns="95793" anchor="b"/>
          <a:lstStyle>
            <a:lvl1pPr algn="l">
              <a:defRPr sz="343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3191" y="3430071"/>
            <a:ext cx="19750086" cy="23043622"/>
          </a:xfrm>
          <a:prstGeom prst="rect">
            <a:avLst/>
          </a:prstGeom>
        </p:spPr>
        <p:txBody>
          <a:bodyPr vert="horz" lIns="191585" tIns="95793" rIns="191585" bIns="95793"/>
          <a:lstStyle>
            <a:lvl1pPr marL="0" indent="0">
              <a:buNone/>
              <a:defRPr sz="5482"/>
            </a:lvl1pPr>
            <a:lvl2pPr marL="783736" indent="0">
              <a:buNone/>
              <a:defRPr sz="4828"/>
            </a:lvl2pPr>
            <a:lvl3pPr marL="1567472" indent="0">
              <a:buNone/>
              <a:defRPr sz="4091"/>
            </a:lvl3pPr>
            <a:lvl4pPr marL="2351208" indent="0">
              <a:buNone/>
              <a:defRPr sz="3437"/>
            </a:lvl4pPr>
            <a:lvl5pPr marL="3134945" indent="0">
              <a:buNone/>
              <a:defRPr sz="3437"/>
            </a:lvl5pPr>
            <a:lvl6pPr marL="3918682" indent="0">
              <a:buNone/>
              <a:defRPr sz="3437"/>
            </a:lvl6pPr>
            <a:lvl7pPr marL="4702418" indent="0">
              <a:buNone/>
              <a:defRPr sz="3437"/>
            </a:lvl7pPr>
            <a:lvl8pPr marL="5486154" indent="0">
              <a:buNone/>
              <a:defRPr sz="3437"/>
            </a:lvl8pPr>
            <a:lvl9pPr marL="6269891" indent="0">
              <a:buNone/>
              <a:defRPr sz="343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3191" y="30055613"/>
            <a:ext cx="19750086" cy="4507972"/>
          </a:xfrm>
          <a:prstGeom prst="rect">
            <a:avLst/>
          </a:prstGeom>
        </p:spPr>
        <p:txBody>
          <a:bodyPr vert="horz" lIns="191585" tIns="95793" rIns="191585" bIns="95793"/>
          <a:lstStyle>
            <a:lvl1pPr marL="0" indent="0">
              <a:buNone/>
              <a:defRPr sz="2372"/>
            </a:lvl1pPr>
            <a:lvl2pPr marL="783736" indent="0">
              <a:buNone/>
              <a:defRPr sz="2046"/>
            </a:lvl2pPr>
            <a:lvl3pPr marL="1567472" indent="0">
              <a:buNone/>
              <a:defRPr sz="1718"/>
            </a:lvl3pPr>
            <a:lvl4pPr marL="2351208" indent="0">
              <a:buNone/>
              <a:defRPr sz="1554"/>
            </a:lvl4pPr>
            <a:lvl5pPr marL="3134945" indent="0">
              <a:buNone/>
              <a:defRPr sz="1554"/>
            </a:lvl5pPr>
            <a:lvl6pPr marL="3918682" indent="0">
              <a:buNone/>
              <a:defRPr sz="1554"/>
            </a:lvl6pPr>
            <a:lvl7pPr marL="4702418" indent="0">
              <a:buNone/>
              <a:defRPr sz="1554"/>
            </a:lvl7pPr>
            <a:lvl8pPr marL="5486154" indent="0">
              <a:buNone/>
              <a:defRPr sz="1554"/>
            </a:lvl8pPr>
            <a:lvl9pPr marL="6269891" indent="0">
              <a:buNone/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195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7" y="1537229"/>
            <a:ext cx="29627514" cy="6400800"/>
          </a:xfrm>
          <a:prstGeom prst="rect">
            <a:avLst/>
          </a:prstGeom>
        </p:spPr>
        <p:txBody>
          <a:bodyPr vert="horz" lIns="191585" tIns="95793" rIns="191585" bIns="9579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7" y="8960381"/>
            <a:ext cx="29627514" cy="25347612"/>
          </a:xfrm>
          <a:prstGeom prst="rect">
            <a:avLst/>
          </a:prstGeom>
        </p:spPr>
        <p:txBody>
          <a:bodyPr vert="eaVert" lIns="191585" tIns="95793" rIns="191585" bIns="9579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896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7273" y="1537243"/>
            <a:ext cx="7405686" cy="32770761"/>
          </a:xfrm>
          <a:prstGeom prst="rect">
            <a:avLst/>
          </a:prstGeom>
        </p:spPr>
        <p:txBody>
          <a:bodyPr vert="eaVert" lIns="191585" tIns="95793" rIns="191585" bIns="9579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7" y="1537243"/>
            <a:ext cx="21993224" cy="32770761"/>
          </a:xfrm>
          <a:prstGeom prst="rect">
            <a:avLst/>
          </a:prstGeom>
        </p:spPr>
        <p:txBody>
          <a:bodyPr vert="eaVert" lIns="191585" tIns="95793" rIns="191585" bIns="9579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79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Text Box 38">
            <a:extLst>
              <a:ext uri="{FF2B5EF4-FFF2-40B4-BE49-F238E27FC236}">
                <a16:creationId xmlns:a16="http://schemas.microsoft.com/office/drawing/2014/main" id="{BE9DD53B-99F5-FFC1-534B-E8E499B165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01400" y="7200900"/>
            <a:ext cx="10506076" cy="926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56727" tIns="78364" rIns="156727" bIns="78364">
            <a:spAutoFit/>
          </a:bodyPr>
          <a:lstStyle>
            <a:lvl1pPr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2193925"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06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n-US" sz="499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58566" rtl="0" eaLnBrk="0" fontAlgn="base" hangingPunct="0">
        <a:spcBef>
          <a:spcPct val="0"/>
        </a:spcBef>
        <a:spcAft>
          <a:spcPct val="0"/>
        </a:spcAft>
        <a:defRPr sz="11040" b="1">
          <a:solidFill>
            <a:schemeClr val="bg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3758566" rtl="0" eaLnBrk="0" fontAlgn="base" hangingPunct="0">
        <a:spcBef>
          <a:spcPct val="0"/>
        </a:spcBef>
        <a:spcAft>
          <a:spcPct val="0"/>
        </a:spcAft>
        <a:defRPr sz="11040" b="1">
          <a:solidFill>
            <a:schemeClr val="bg1"/>
          </a:solidFill>
          <a:latin typeface="Arial" pitchFamily="-65" charset="0"/>
          <a:ea typeface="MS PGothic" panose="020B0600070205080204" pitchFamily="34" charset="-128"/>
          <a:cs typeface="ＭＳ Ｐゴシック" charset="0"/>
        </a:defRPr>
      </a:lvl2pPr>
      <a:lvl3pPr algn="ctr" defTabSz="3758566" rtl="0" eaLnBrk="0" fontAlgn="base" hangingPunct="0">
        <a:spcBef>
          <a:spcPct val="0"/>
        </a:spcBef>
        <a:spcAft>
          <a:spcPct val="0"/>
        </a:spcAft>
        <a:defRPr sz="11040" b="1">
          <a:solidFill>
            <a:schemeClr val="bg1"/>
          </a:solidFill>
          <a:latin typeface="Arial" pitchFamily="-65" charset="0"/>
          <a:ea typeface="MS PGothic" panose="020B0600070205080204" pitchFamily="34" charset="-128"/>
          <a:cs typeface="ＭＳ Ｐゴシック" charset="0"/>
        </a:defRPr>
      </a:lvl3pPr>
      <a:lvl4pPr algn="ctr" defTabSz="3758566" rtl="0" eaLnBrk="0" fontAlgn="base" hangingPunct="0">
        <a:spcBef>
          <a:spcPct val="0"/>
        </a:spcBef>
        <a:spcAft>
          <a:spcPct val="0"/>
        </a:spcAft>
        <a:defRPr sz="11040" b="1">
          <a:solidFill>
            <a:schemeClr val="bg1"/>
          </a:solidFill>
          <a:latin typeface="Arial" pitchFamily="-65" charset="0"/>
          <a:ea typeface="MS PGothic" panose="020B0600070205080204" pitchFamily="34" charset="-128"/>
          <a:cs typeface="ＭＳ Ｐゴシック" charset="0"/>
        </a:defRPr>
      </a:lvl4pPr>
      <a:lvl5pPr algn="ctr" defTabSz="3758566" rtl="0" eaLnBrk="0" fontAlgn="base" hangingPunct="0">
        <a:spcBef>
          <a:spcPct val="0"/>
        </a:spcBef>
        <a:spcAft>
          <a:spcPct val="0"/>
        </a:spcAft>
        <a:defRPr sz="11040" b="1">
          <a:solidFill>
            <a:schemeClr val="bg1"/>
          </a:solidFill>
          <a:latin typeface="Arial" pitchFamily="-65" charset="0"/>
          <a:ea typeface="MS PGothic" panose="020B0600070205080204" pitchFamily="34" charset="-128"/>
          <a:cs typeface="ＭＳ Ｐゴシック" charset="0"/>
        </a:defRPr>
      </a:lvl5pPr>
      <a:lvl6pPr marL="783736" algn="ctr" defTabSz="3760846" rtl="0" fontAlgn="base">
        <a:spcBef>
          <a:spcPct val="0"/>
        </a:spcBef>
        <a:spcAft>
          <a:spcPct val="0"/>
        </a:spcAft>
        <a:defRPr sz="11126" b="1">
          <a:solidFill>
            <a:schemeClr val="bg1"/>
          </a:solidFill>
          <a:latin typeface="Arial" pitchFamily="-65" charset="0"/>
        </a:defRPr>
      </a:lvl6pPr>
      <a:lvl7pPr marL="1567472" algn="ctr" defTabSz="3760846" rtl="0" fontAlgn="base">
        <a:spcBef>
          <a:spcPct val="0"/>
        </a:spcBef>
        <a:spcAft>
          <a:spcPct val="0"/>
        </a:spcAft>
        <a:defRPr sz="11126" b="1">
          <a:solidFill>
            <a:schemeClr val="bg1"/>
          </a:solidFill>
          <a:latin typeface="Arial" pitchFamily="-65" charset="0"/>
        </a:defRPr>
      </a:lvl7pPr>
      <a:lvl8pPr marL="2351208" algn="ctr" defTabSz="3760846" rtl="0" fontAlgn="base">
        <a:spcBef>
          <a:spcPct val="0"/>
        </a:spcBef>
        <a:spcAft>
          <a:spcPct val="0"/>
        </a:spcAft>
        <a:defRPr sz="11126" b="1">
          <a:solidFill>
            <a:schemeClr val="bg1"/>
          </a:solidFill>
          <a:latin typeface="Arial" pitchFamily="-65" charset="0"/>
        </a:defRPr>
      </a:lvl8pPr>
      <a:lvl9pPr marL="3134945" algn="ctr" defTabSz="3760846" rtl="0" fontAlgn="base">
        <a:spcBef>
          <a:spcPct val="0"/>
        </a:spcBef>
        <a:spcAft>
          <a:spcPct val="0"/>
        </a:spcAft>
        <a:defRPr sz="11126" b="1">
          <a:solidFill>
            <a:schemeClr val="bg1"/>
          </a:solidFill>
          <a:latin typeface="Arial" pitchFamily="-65" charset="0"/>
        </a:defRPr>
      </a:lvl9pPr>
    </p:titleStyle>
    <p:bodyStyle>
      <a:lvl1pPr marL="1407796" indent="-1407796" algn="l" defTabSz="3758566" rtl="0" eaLnBrk="0" fontAlgn="base" hangingPunct="0">
        <a:spcBef>
          <a:spcPct val="20000"/>
        </a:spcBef>
        <a:spcAft>
          <a:spcPct val="0"/>
        </a:spcAft>
        <a:defRPr sz="288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3053716" indent="-1175386" algn="l" defTabSz="3758566" rtl="0" eaLnBrk="0" fontAlgn="base" hangingPunct="0">
        <a:spcBef>
          <a:spcPct val="20000"/>
        </a:spcBef>
        <a:spcAft>
          <a:spcPct val="0"/>
        </a:spcAft>
        <a:buChar char="–"/>
        <a:defRPr sz="612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4701540" indent="-939166" algn="l" defTabSz="3758566" rtl="0" eaLnBrk="0" fontAlgn="base" hangingPunct="0">
        <a:spcBef>
          <a:spcPct val="20000"/>
        </a:spcBef>
        <a:spcAft>
          <a:spcPct val="0"/>
        </a:spcAft>
        <a:buChar char="•"/>
        <a:defRPr sz="528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6581776" indent="-937260" algn="l" defTabSz="3758566" rtl="0" eaLnBrk="0" fontAlgn="base" hangingPunct="0">
        <a:spcBef>
          <a:spcPct val="20000"/>
        </a:spcBef>
        <a:spcAft>
          <a:spcPct val="0"/>
        </a:spcAft>
        <a:buChar char="–"/>
        <a:defRPr sz="408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8462010" indent="-937260" algn="l" defTabSz="3758566" rtl="0" eaLnBrk="0" fontAlgn="base" hangingPunct="0">
        <a:spcBef>
          <a:spcPct val="20000"/>
        </a:spcBef>
        <a:spcAft>
          <a:spcPct val="0"/>
        </a:spcAft>
        <a:buChar char="»"/>
        <a:defRPr sz="408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9247000" indent="-938851" algn="l" defTabSz="3760846" rtl="0" fontAlgn="base">
        <a:spcBef>
          <a:spcPct val="20000"/>
        </a:spcBef>
        <a:spcAft>
          <a:spcPct val="0"/>
        </a:spcAft>
        <a:buChar char="»"/>
        <a:defRPr sz="4091">
          <a:solidFill>
            <a:schemeClr val="tx1"/>
          </a:solidFill>
          <a:latin typeface="+mn-lt"/>
          <a:ea typeface="ＭＳ Ｐゴシック" pitchFamily="-65" charset="-128"/>
        </a:defRPr>
      </a:lvl6pPr>
      <a:lvl7pPr marL="10030735" indent="-938851" algn="l" defTabSz="3760846" rtl="0" fontAlgn="base">
        <a:spcBef>
          <a:spcPct val="20000"/>
        </a:spcBef>
        <a:spcAft>
          <a:spcPct val="0"/>
        </a:spcAft>
        <a:buChar char="»"/>
        <a:defRPr sz="4091">
          <a:solidFill>
            <a:schemeClr val="tx1"/>
          </a:solidFill>
          <a:latin typeface="+mn-lt"/>
          <a:ea typeface="ＭＳ Ｐゴシック" pitchFamily="-65" charset="-128"/>
        </a:defRPr>
      </a:lvl7pPr>
      <a:lvl8pPr marL="10814472" indent="-938851" algn="l" defTabSz="3760846" rtl="0" fontAlgn="base">
        <a:spcBef>
          <a:spcPct val="20000"/>
        </a:spcBef>
        <a:spcAft>
          <a:spcPct val="0"/>
        </a:spcAft>
        <a:buChar char="»"/>
        <a:defRPr sz="4091">
          <a:solidFill>
            <a:schemeClr val="tx1"/>
          </a:solidFill>
          <a:latin typeface="+mn-lt"/>
          <a:ea typeface="ＭＳ Ｐゴシック" pitchFamily="-65" charset="-128"/>
        </a:defRPr>
      </a:lvl8pPr>
      <a:lvl9pPr marL="11598209" indent="-938851" algn="l" defTabSz="3760846" rtl="0" fontAlgn="base">
        <a:spcBef>
          <a:spcPct val="20000"/>
        </a:spcBef>
        <a:spcAft>
          <a:spcPct val="0"/>
        </a:spcAft>
        <a:buChar char="»"/>
        <a:defRPr sz="4091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1pPr>
      <a:lvl2pPr marL="783736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2pPr>
      <a:lvl3pPr marL="1567472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3pPr>
      <a:lvl4pPr marL="2351208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4pPr>
      <a:lvl5pPr marL="3134945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5pPr>
      <a:lvl6pPr marL="3918682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6pPr>
      <a:lvl7pPr marL="4702418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7pPr>
      <a:lvl8pPr marL="5486154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8pPr>
      <a:lvl9pPr marL="6269891" algn="l" defTabSz="783736" rtl="0" eaLnBrk="1" latinLnBrk="0" hangingPunct="1">
        <a:defRPr sz="31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mailto:Mahmoud.karmany@isen-ouest.yncrea.fr" TargetMode="External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jpg"/><Relationship Id="rId14" Type="http://schemas.openxmlformats.org/officeDocument/2006/relationships/hyperlink" Target="mailto:mahmod.karmany@ensta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blue logo&#10;&#10;AI-generated content may be incorrect.">
            <a:extLst>
              <a:ext uri="{FF2B5EF4-FFF2-40B4-BE49-F238E27FC236}">
                <a16:creationId xmlns:a16="http://schemas.microsoft.com/office/drawing/2014/main" id="{04AC975B-2C25-A834-8829-B5DBA2030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993" y="2106876"/>
            <a:ext cx="6525431" cy="1851022"/>
          </a:xfrm>
          <a:prstGeom prst="rect">
            <a:avLst/>
          </a:prstGeom>
        </p:spPr>
      </p:pic>
      <p:sp>
        <p:nvSpPr>
          <p:cNvPr id="4099" name="Rectangle 41">
            <a:extLst>
              <a:ext uri="{FF2B5EF4-FFF2-40B4-BE49-F238E27FC236}">
                <a16:creationId xmlns:a16="http://schemas.microsoft.com/office/drawing/2014/main" id="{70EAF65A-9CCA-EE73-E66D-9C8D20D80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185" y="222810"/>
            <a:ext cx="24460199" cy="4816088"/>
          </a:xfrm>
          <a:prstGeom prst="rect">
            <a:avLst/>
          </a:prstGeom>
          <a:noFill/>
          <a:ln>
            <a:noFill/>
          </a:ln>
        </p:spPr>
        <p:txBody>
          <a:bodyPr lIns="156727" tIns="78364" rIns="156727" bIns="78364" anchor="ctr"/>
          <a:lstStyle>
            <a:lvl1pPr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6600" b="1" dirty="0">
                <a:solidFill>
                  <a:srgbClr val="0D0C0C"/>
                </a:solidFill>
                <a:latin typeface="Rockwell (headline)"/>
              </a:rPr>
              <a:t>HMAC-Driven Chaotic Image Encryption for Robust Multimedia Security</a:t>
            </a:r>
            <a:br>
              <a:rPr lang="en-US" altLang="en-US" sz="7200" b="1" dirty="0">
                <a:solidFill>
                  <a:srgbClr val="2163A1"/>
                </a:solidFill>
                <a:latin typeface="Helvetica" panose="020B0604020202020204" pitchFamily="34" charset="0"/>
              </a:rPr>
            </a:br>
            <a:r>
              <a:rPr lang="en-US" sz="3600" b="0" i="0" u="none" strike="noStrike" baseline="0" dirty="0">
                <a:latin typeface="CMR12"/>
              </a:rPr>
              <a:t>M. </a:t>
            </a:r>
            <a:r>
              <a:rPr lang="en-US" sz="3600" b="0" i="0" u="none" strike="noStrike" baseline="0" dirty="0" err="1">
                <a:latin typeface="CMR12"/>
              </a:rPr>
              <a:t>Karmany</a:t>
            </a:r>
            <a:r>
              <a:rPr lang="en-US" sz="3600" b="0" i="0" u="none" strike="noStrike" baseline="30000" dirty="0" err="1">
                <a:latin typeface="CMR8"/>
              </a:rPr>
              <a:t>a,b</a:t>
            </a:r>
            <a:r>
              <a:rPr lang="en-US" sz="3600" b="0" i="0" u="none" strike="noStrike" baseline="0" dirty="0">
                <a:latin typeface="CMR12"/>
              </a:rPr>
              <a:t>, A. </a:t>
            </a:r>
            <a:r>
              <a:rPr lang="en-US" sz="3600" b="0" i="0" u="none" strike="noStrike" baseline="0" dirty="0" err="1">
                <a:latin typeface="CMR12"/>
              </a:rPr>
              <a:t>Moawad</a:t>
            </a:r>
            <a:r>
              <a:rPr lang="en-US" sz="3600" b="0" i="0" u="none" strike="noStrike" baseline="30000" dirty="0" err="1">
                <a:latin typeface="CMR8"/>
              </a:rPr>
              <a:t>c</a:t>
            </a:r>
            <a:r>
              <a:rPr lang="en-US" sz="3600" b="0" i="0" u="none" strike="noStrike" baseline="0" dirty="0">
                <a:latin typeface="CMR12"/>
              </a:rPr>
              <a:t>, M. </a:t>
            </a:r>
            <a:r>
              <a:rPr lang="en-US" sz="3600" b="0" i="0" u="none" strike="noStrike" baseline="0" dirty="0" err="1">
                <a:latin typeface="CMR12"/>
              </a:rPr>
              <a:t>Abaza</a:t>
            </a:r>
            <a:r>
              <a:rPr lang="en-US" sz="3600" b="0" i="0" u="none" strike="noStrike" baseline="30000" dirty="0" err="1">
                <a:latin typeface="CMR8"/>
              </a:rPr>
              <a:t>d</a:t>
            </a:r>
            <a:r>
              <a:rPr lang="en-US" sz="3600" b="0" i="0" u="none" strike="noStrike" baseline="0" dirty="0">
                <a:latin typeface="CMR12"/>
              </a:rPr>
              <a:t>, A. </a:t>
            </a:r>
            <a:r>
              <a:rPr lang="en-US" sz="3600" b="0" i="0" u="none" strike="noStrike" baseline="0" dirty="0" err="1">
                <a:latin typeface="CMR12"/>
              </a:rPr>
              <a:t>Alfalou</a:t>
            </a:r>
            <a:r>
              <a:rPr lang="en-US" sz="3600" b="0" i="0" u="none" strike="noStrike" baseline="30000" dirty="0" err="1">
                <a:latin typeface="CMR8"/>
              </a:rPr>
              <a:t>a</a:t>
            </a:r>
            <a:r>
              <a:rPr lang="en-US" sz="3600" b="0" i="0" u="none" strike="noStrike" baseline="0" dirty="0">
                <a:latin typeface="CMR12"/>
              </a:rPr>
              <a:t>, and A. </a:t>
            </a:r>
            <a:r>
              <a:rPr lang="en-US" sz="3600" b="0" i="0" u="none" strike="noStrike" baseline="0" dirty="0" err="1">
                <a:latin typeface="CMR12"/>
              </a:rPr>
              <a:t>Mansour</a:t>
            </a:r>
            <a:r>
              <a:rPr lang="en-US" sz="3600" b="0" i="0" u="none" strike="noStrike" baseline="30000" dirty="0" err="1">
                <a:latin typeface="CMR8"/>
              </a:rPr>
              <a:t>b</a:t>
            </a:r>
            <a:br>
              <a:rPr lang="en-US" altLang="ja-JP" sz="4800" i="1" dirty="0">
                <a:solidFill>
                  <a:srgbClr val="404040"/>
                </a:solidFill>
                <a:latin typeface="Helvetica" panose="020B0604020202020204" pitchFamily="34" charset="0"/>
              </a:rPr>
            </a:br>
            <a:r>
              <a:rPr lang="fr-FR" sz="3600" b="0" i="0" u="none" strike="noStrike" baseline="30000" dirty="0" err="1">
                <a:latin typeface="CMR8"/>
              </a:rPr>
              <a:t>a</a:t>
            </a:r>
            <a:r>
              <a:rPr lang="fr-FR" sz="3600" b="0" i="0" u="none" strike="noStrike" baseline="0" dirty="0" err="1">
                <a:latin typeface="CMR12"/>
              </a:rPr>
              <a:t>LabISEN</a:t>
            </a:r>
            <a:r>
              <a:rPr lang="fr-FR" sz="3600" b="0" i="0" u="none" strike="noStrike" baseline="0" dirty="0">
                <a:latin typeface="CMR12"/>
              </a:rPr>
              <a:t>, LSL, ISEN Ouest, 29200 Brest, France</a:t>
            </a:r>
          </a:p>
          <a:p>
            <a:pPr algn="ctr"/>
            <a:r>
              <a:rPr lang="fr-FR" sz="3600" b="0" i="0" u="none" strike="noStrike" baseline="30000" dirty="0" err="1">
                <a:latin typeface="CMR8"/>
              </a:rPr>
              <a:t>b</a:t>
            </a:r>
            <a:r>
              <a:rPr lang="fr-FR" sz="3600" b="0" i="0" u="none" strike="noStrike" baseline="0" dirty="0" err="1">
                <a:latin typeface="CMR12"/>
              </a:rPr>
              <a:t>Lab</a:t>
            </a:r>
            <a:r>
              <a:rPr lang="fr-FR" sz="3600" b="0" i="0" u="none" strike="noStrike" baseline="0" dirty="0">
                <a:latin typeface="CMR12"/>
              </a:rPr>
              <a:t>-STICC, UMR 6285 CNRS, ENSTA Institut Polytechnique de Paris, Brest, France</a:t>
            </a:r>
          </a:p>
          <a:p>
            <a:pPr algn="ctr"/>
            <a:r>
              <a:rPr lang="en-US" sz="3600" b="0" i="0" u="none" strike="noStrike" baseline="30000" dirty="0" err="1">
                <a:latin typeface="CMR8"/>
              </a:rPr>
              <a:t>c</a:t>
            </a:r>
            <a:r>
              <a:rPr lang="en-US" sz="3600" b="0" i="0" u="none" strike="noStrike" baseline="0" dirty="0" err="1">
                <a:latin typeface="CMR12"/>
              </a:rPr>
              <a:t>ECE</a:t>
            </a:r>
            <a:r>
              <a:rPr lang="en-US" sz="3600" b="0" i="0" u="none" strike="noStrike" baseline="0" dirty="0">
                <a:latin typeface="CMR12"/>
              </a:rPr>
              <a:t> Department, Arab Academy for Science, Technology and Maritime Transport, Cairo 11769, Egypt</a:t>
            </a:r>
          </a:p>
          <a:p>
            <a:pPr algn="ctr"/>
            <a:r>
              <a:rPr lang="en-US" sz="3600" b="0" i="0" u="none" strike="noStrike" baseline="30000" dirty="0" err="1">
                <a:latin typeface="CMR8"/>
              </a:rPr>
              <a:t>d</a:t>
            </a:r>
            <a:r>
              <a:rPr lang="en-US" sz="3600" b="0" i="0" u="none" strike="noStrike" baseline="0" dirty="0" err="1">
                <a:latin typeface="CMR12"/>
              </a:rPr>
              <a:t>ECE</a:t>
            </a:r>
            <a:r>
              <a:rPr lang="en-US" sz="3600" b="0" i="0" u="none" strike="noStrike" baseline="0" dirty="0">
                <a:latin typeface="CMR12"/>
              </a:rPr>
              <a:t> Department, Arab Academy for Science, Technology and Maritime Transport, Giza 2033, Egypt</a:t>
            </a:r>
            <a:endParaRPr lang="en-US" altLang="en-US" sz="7200" dirty="0">
              <a:solidFill>
                <a:srgbClr val="404040"/>
              </a:solidFill>
              <a:latin typeface="Helvetica" panose="020B0604020202020204" pitchFamily="34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CA5AFEA8-2E83-6D19-B0F3-3888688BC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197" y="24901495"/>
            <a:ext cx="10287000" cy="77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6727" tIns="78364" rIns="156727" bIns="78364">
            <a:spAutoFit/>
          </a:bodyPr>
          <a:lstStyle>
            <a:lvl1pPr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>
                <a:solidFill>
                  <a:srgbClr val="0D0C0C"/>
                </a:solidFill>
                <a:latin typeface="Rockwell (headline)"/>
              </a:rPr>
              <a:t>Key contributions</a:t>
            </a:r>
          </a:p>
        </p:txBody>
      </p:sp>
      <p:sp>
        <p:nvSpPr>
          <p:cNvPr id="4103" name="Rectangle 10">
            <a:extLst>
              <a:ext uri="{FF2B5EF4-FFF2-40B4-BE49-F238E27FC236}">
                <a16:creationId xmlns:a16="http://schemas.microsoft.com/office/drawing/2014/main" id="{DDF640EC-9F55-C476-F032-4CEA735B7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0446" y="34093784"/>
            <a:ext cx="9351644" cy="540914"/>
          </a:xfrm>
          <a:prstGeom prst="rect">
            <a:avLst/>
          </a:prstGeom>
          <a:noFill/>
          <a:ln>
            <a:noFill/>
          </a:ln>
        </p:spPr>
        <p:txBody>
          <a:bodyPr lIns="156727" tIns="78364" rIns="156727" bIns="78364"/>
          <a:lstStyle>
            <a:lvl1pPr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2291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pic>
        <p:nvPicPr>
          <p:cNvPr id="4106" name="Picture 5" descr="Call4Posters_white.eps">
            <a:extLst>
              <a:ext uri="{FF2B5EF4-FFF2-40B4-BE49-F238E27FC236}">
                <a16:creationId xmlns:a16="http://schemas.microsoft.com/office/drawing/2014/main" id="{6BB93844-16C8-1EDF-546B-2B90A151C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700" y="53492400"/>
            <a:ext cx="3385186" cy="855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44">
            <a:extLst>
              <a:ext uri="{FF2B5EF4-FFF2-40B4-BE49-F238E27FC236}">
                <a16:creationId xmlns:a16="http://schemas.microsoft.com/office/drawing/2014/main" id="{E5CE8B77-5342-BE00-84B7-AE94A1FBB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349430"/>
            <a:ext cx="32994600" cy="140970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 lIns="156751" tIns="78376" rIns="156751" bIns="78376"/>
          <a:lstStyle>
            <a:lvl1pPr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18163">
              <a:latin typeface="Helvetica" panose="020B0604020202020204" pitchFamily="34" charset="0"/>
            </a:endParaRPr>
          </a:p>
        </p:txBody>
      </p:sp>
      <p:sp>
        <p:nvSpPr>
          <p:cNvPr id="4114" name="Rectangle 52">
            <a:extLst>
              <a:ext uri="{FF2B5EF4-FFF2-40B4-BE49-F238E27FC236}">
                <a16:creationId xmlns:a16="http://schemas.microsoft.com/office/drawing/2014/main" id="{67407866-F91B-8363-EBE0-C668ED5337F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239" y="25651630"/>
            <a:ext cx="16050604" cy="45719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/>
          <a:lstStyle>
            <a:lvl1pPr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8672"/>
          </a:p>
        </p:txBody>
      </p:sp>
      <p:sp>
        <p:nvSpPr>
          <p:cNvPr id="4115" name="Rectangle 44">
            <a:extLst>
              <a:ext uri="{FF2B5EF4-FFF2-40B4-BE49-F238E27FC236}">
                <a16:creationId xmlns:a16="http://schemas.microsoft.com/office/drawing/2014/main" id="{E4D02418-53BE-FA56-F959-7E39DAC8F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82590"/>
            <a:ext cx="32994600" cy="365760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 lIns="156751" tIns="78376" rIns="156751" bIns="78376"/>
          <a:lstStyle>
            <a:lvl1pPr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95813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95813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18163">
              <a:latin typeface="Helvetica" panose="020B0604020202020204" pitchFamily="34" charset="0"/>
            </a:endParaRPr>
          </a:p>
        </p:txBody>
      </p:sp>
      <p:sp>
        <p:nvSpPr>
          <p:cNvPr id="4116" name="TextBox 6">
            <a:extLst>
              <a:ext uri="{FF2B5EF4-FFF2-40B4-BE49-F238E27FC236}">
                <a16:creationId xmlns:a16="http://schemas.microsoft.com/office/drawing/2014/main" id="{193D5EE0-5BB9-CBD3-0E86-E9F95E721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50" y="7346908"/>
            <a:ext cx="15960520" cy="674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lnSpc>
                <a:spcPct val="150000"/>
              </a:lnSpc>
              <a:defRPr sz="3360">
                <a:latin typeface="Helvetica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Rockwell (body)"/>
              </a:rPr>
              <a:t>Rapid multimedia transmission through public networks leads to more security threats.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Rockwell (body)"/>
              </a:rPr>
              <a:t>Conventional techniques (Advanced Encryption Standards (AES), Rivest-Shamir-Adleman (RSA)) provides: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Strong security but insufficient in image data.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Less effective due to large redundancy and correlation between pixels.</a:t>
            </a:r>
          </a:p>
          <a:p>
            <a:pPr marL="457200" lvl="1" indent="-4572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Rockwell (body)"/>
              </a:rPr>
              <a:t>Chaotic Encryption</a:t>
            </a:r>
            <a:r>
              <a:rPr lang="en-US" sz="2400" dirty="0">
                <a:latin typeface="Rockwell (body)"/>
              </a:rPr>
              <a:t>:</a:t>
            </a:r>
          </a:p>
          <a:p>
            <a:pPr marL="914400" lvl="2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Offers high sensitivity to initial conditions.</a:t>
            </a:r>
          </a:p>
          <a:p>
            <a:pPr marL="914400" lvl="2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Utilizes efficient, pseudo-random techniques specifically designed for images.</a:t>
            </a:r>
          </a:p>
          <a:p>
            <a:pPr marL="457200" lvl="2" indent="-4572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Rockwell (body)"/>
              </a:rPr>
              <a:t>Steganography:</a:t>
            </a:r>
          </a:p>
          <a:p>
            <a:pPr marL="914400" lvl="3" indent="-4572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Rockwell (body)"/>
              </a:rPr>
              <a:t>Enables secret communication by hiding data within carrier images.</a:t>
            </a:r>
          </a:p>
          <a:p>
            <a:pPr marL="457200" lvl="2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 (body)"/>
              </a:rPr>
              <a:t>Main problem:</a:t>
            </a:r>
          </a:p>
          <a:p>
            <a:pPr marL="914400" lvl="3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Current approaches consider encryption and steganography as separate techniques.</a:t>
            </a:r>
          </a:p>
          <a:p>
            <a:pPr marL="914400" lvl="3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Difficult to achieve security and imperceptibility.</a:t>
            </a:r>
          </a:p>
          <a:p>
            <a:pPr marL="457200" lvl="3" indent="-4572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Rockwell (body)"/>
              </a:rPr>
              <a:t>Proposed solution: </a:t>
            </a:r>
            <a:r>
              <a:rPr lang="en-US" sz="2400" dirty="0">
                <a:latin typeface="Rockwell (body)"/>
              </a:rPr>
              <a:t>Integrative framework involving:</a:t>
            </a:r>
          </a:p>
          <a:p>
            <a:pPr marL="1371600" lvl="5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Hash Message Authentication code-based chaotic Encryption.</a:t>
            </a:r>
          </a:p>
          <a:p>
            <a:pPr marL="1371600" lvl="5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Rockwell (body)"/>
              </a:rPr>
              <a:t>Weighted Image Fusion Steganography (WIFS).</a:t>
            </a:r>
          </a:p>
          <a:p>
            <a:pPr marL="457200" lvl="4" indent="-4572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Rockwell (body)"/>
              </a:rPr>
              <a:t>Goal: </a:t>
            </a:r>
          </a:p>
          <a:p>
            <a:pPr marL="1371600" lvl="5" indent="-457200" algn="just">
              <a:buFont typeface="Wingdings" panose="05000000000000000000" pitchFamily="2" charset="2"/>
              <a:buChar char="§"/>
            </a:pPr>
            <a:r>
              <a:rPr lang="en-US" sz="2400" b="1" dirty="0">
                <a:latin typeface="Rockwell (body)"/>
              </a:rPr>
              <a:t> </a:t>
            </a:r>
            <a:r>
              <a:rPr lang="en-US" sz="2400" dirty="0">
                <a:latin typeface="Rockwell (body)"/>
              </a:rPr>
              <a:t>Achieve secure, robust, and visually imperceptible multimedia transmission.</a:t>
            </a:r>
          </a:p>
        </p:txBody>
      </p:sp>
      <p:sp>
        <p:nvSpPr>
          <p:cNvPr id="4117" name="TextBox 56">
            <a:extLst>
              <a:ext uri="{FF2B5EF4-FFF2-40B4-BE49-F238E27FC236}">
                <a16:creationId xmlns:a16="http://schemas.microsoft.com/office/drawing/2014/main" id="{57CF681F-F192-EDF5-D9A7-47915CB1D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65" y="31452368"/>
            <a:ext cx="15923061" cy="556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just" eaLnBrk="1" hangingPunct="1">
              <a:lnSpc>
                <a:spcPct val="150000"/>
              </a:lnSpc>
              <a:defRPr sz="2800">
                <a:latin typeface="Helvetica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457200" indent="-514350">
              <a:buFont typeface="+mj-lt"/>
              <a:buAutoNum type="arabicPeriod"/>
            </a:pPr>
            <a:r>
              <a:rPr lang="en-US" altLang="en-US" sz="2400" dirty="0">
                <a:latin typeface="Rockwell (body)"/>
              </a:rPr>
              <a:t>Generation of keys based on Hash-based Message Authentication Code-Secure Hash Algorithm (HMAC-SHA-256) to ensure high dependency of the result on both the secret key and the plaintext.</a:t>
            </a:r>
          </a:p>
          <a:p>
            <a:pPr marL="457200" indent="-514350">
              <a:buFont typeface="+mj-lt"/>
              <a:buAutoNum type="arabicPeriod"/>
            </a:pPr>
            <a:r>
              <a:rPr lang="en-US" altLang="en-US" sz="2400" dirty="0">
                <a:latin typeface="Rockwell (body)"/>
              </a:rPr>
              <a:t>Keys serve as initial conditions in a PWLCM for the generation of pseudo-random sequences.</a:t>
            </a:r>
          </a:p>
          <a:p>
            <a:pPr marL="457200" indent="-514350">
              <a:buFont typeface="+mj-lt"/>
              <a:buAutoNum type="arabicPeriod"/>
            </a:pPr>
            <a:r>
              <a:rPr lang="en-US" altLang="en-US" sz="2400" dirty="0">
                <a:latin typeface="Rockwell (body)"/>
              </a:rPr>
              <a:t>Chaos-based sequences are employed for:</a:t>
            </a:r>
          </a:p>
          <a:p>
            <a:pPr marL="914400" lvl="1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Rockwell (body)"/>
                <a:cs typeface="Helvetica" panose="020B0604020202020204" pitchFamily="34" charset="0"/>
              </a:rPr>
              <a:t>Confusion: pixel permutation to destroy spatial. correlation.</a:t>
            </a:r>
          </a:p>
          <a:p>
            <a:pPr marL="914400" lvl="1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Rockwell (body)"/>
                <a:cs typeface="Helvetica" panose="020B0604020202020204" pitchFamily="34" charset="0"/>
              </a:rPr>
              <a:t>Diffusion: pixel value manipulation for increased security.</a:t>
            </a:r>
          </a:p>
          <a:p>
            <a:pPr marL="514350" lvl="1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en-US" sz="2400" dirty="0">
                <a:latin typeface="Rockwell (body)"/>
              </a:rPr>
              <a:t>The resulting cipher image is concealed into the cover image utilizing Weighted Image Fusion Steganography (WIFS).</a:t>
            </a:r>
          </a:p>
          <a:p>
            <a:pPr marL="514350" lvl="1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en-US" sz="2400" dirty="0">
                <a:latin typeface="Rockwell (body)"/>
              </a:rPr>
              <a:t>With WIFS, the embedding rate can be adjusted to obtain both unpredictability and robustness.</a:t>
            </a:r>
          </a:p>
          <a:p>
            <a:pPr marL="514350" lvl="1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en-US" sz="2400" dirty="0">
                <a:latin typeface="Rockwell (body)"/>
              </a:rPr>
              <a:t>Ensures secure and reliable multimedia communications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21" name="TextBox 65">
                <a:extLst>
                  <a:ext uri="{FF2B5EF4-FFF2-40B4-BE49-F238E27FC236}">
                    <a16:creationId xmlns:a16="http://schemas.microsoft.com/office/drawing/2014/main" id="{88FC90C4-FD00-E207-B0E3-168AA1CCA2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0240" y="6944450"/>
                <a:ext cx="15681680" cy="7599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en-US" sz="2400" b="1" dirty="0">
                    <a:latin typeface="Rockwell (body)"/>
                  </a:rPr>
                  <a:t>HMAC-based Key Generation: </a:t>
                </a:r>
                <a:r>
                  <a:rPr lang="en-US" altLang="en-US" sz="2400" dirty="0">
                    <a:latin typeface="Rockwell (body)"/>
                  </a:rPr>
                  <a:t>Generates a unique 256-bit hash 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) from a secret key 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) and image data 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) to drive chaotic parameters.</a:t>
                </a:r>
                <a:endParaRPr lang="en-US" altLang="en-US" sz="2400" b="1" dirty="0">
                  <a:latin typeface="Rockwell (body)"/>
                </a:endParaRPr>
              </a:p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400" i="0">
                              <a:latin typeface="Cambria Math" panose="02040503050406030204" pitchFamily="18" charset="0"/>
                            </a:rPr>
                            <m:t>HMAC</m:t>
                          </m:r>
                          <m:r>
                            <a:rPr lang="en-US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en-US" sz="2400" i="0">
                              <a:latin typeface="Cambria Math" panose="02040503050406030204" pitchFamily="18" charset="0"/>
                            </a:rPr>
                            <m:t>SHA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>
                  <a:latin typeface="Rockwell (body)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en-US" sz="2400" b="1" dirty="0">
                    <a:latin typeface="Rockwell (body)"/>
                  </a:rPr>
                  <a:t>Piece-Wise Linear Chaotic Map (PWLCM</a:t>
                </a:r>
                <a:r>
                  <a:rPr lang="en-US" altLang="en-US" sz="2400" dirty="0">
                    <a:latin typeface="Rockwell (body)"/>
                  </a:rPr>
                  <a:t>)</a:t>
                </a:r>
                <a:r>
                  <a:rPr lang="en-US" altLang="en-US" sz="2400" b="1" dirty="0">
                    <a:latin typeface="Rockwell (body)"/>
                  </a:rPr>
                  <a:t>:</a:t>
                </a:r>
                <a:r>
                  <a:rPr lang="en-US" altLang="en-US" sz="2400" dirty="0">
                    <a:latin typeface="Rockwell (body)"/>
                  </a:rPr>
                  <a:t> Produces pseudo-random sequences for pixel confusion and diffusion.</a:t>
                </a:r>
              </a:p>
              <a:p>
                <a:pPr algn="ctr"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,      0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400" dirty="0">
                  <a:latin typeface="Rockwell (body)"/>
                </a:endParaRPr>
              </a:p>
              <a:p>
                <a:pPr eaLnBrk="1" hangingPunct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Rockwell (body)"/>
                  </a:rPr>
                  <a:t>: current state; p: control parameter driven from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.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en-US" sz="2400" b="1" dirty="0">
                    <a:latin typeface="Rockwell (body)"/>
                  </a:rPr>
                  <a:t>Weighted Image Fusion Steganography (WIFS): </a:t>
                </a:r>
                <a:r>
                  <a:rPr lang="en-US" altLang="en-US" sz="2400" dirty="0">
                    <a:latin typeface="Rockwell (body)"/>
                  </a:rPr>
                  <a:t>Blends the cipher image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Rockwell (body)"/>
                  </a:rPr>
                  <a:t>) into a cover image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𝑐𝑜𝑣𝑒𝑟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Rockwell (body)"/>
                  </a:rPr>
                  <a:t>).</a:t>
                </a:r>
              </a:p>
              <a:p>
                <a:pPr algn="ctr" eaLnBrk="1" hangingPunct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𝑆𝑡𝑒𝑔𝑜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𝑐𝑜𝑣𝑒𝑟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Rockwell (body)"/>
                  </a:rPr>
                  <a:t> 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en-US" sz="2400" dirty="0">
                    <a:latin typeface="Rockwell (body)"/>
                  </a:rPr>
                  <a:t>S: Embedding rate;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𝑠𝑡𝑒𝑔𝑜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Rockwell (body)"/>
                  </a:rPr>
                  <a:t>: Resulting hidden image </a:t>
                </a:r>
              </a:p>
            </p:txBody>
          </p:sp>
        </mc:Choice>
        <mc:Fallback>
          <p:sp>
            <p:nvSpPr>
              <p:cNvPr id="4121" name="TextBox 65">
                <a:extLst>
                  <a:ext uri="{FF2B5EF4-FFF2-40B4-BE49-F238E27FC236}">
                    <a16:creationId xmlns:a16="http://schemas.microsoft.com/office/drawing/2014/main" id="{88FC90C4-FD00-E207-B0E3-168AA1CCA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50240" y="6944450"/>
                <a:ext cx="15681680" cy="7599196"/>
              </a:xfrm>
              <a:prstGeom prst="rect">
                <a:avLst/>
              </a:prstGeom>
              <a:blipFill>
                <a:blip r:embed="rId5"/>
                <a:stretch>
                  <a:fillRect l="-622" b="-11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6">
            <a:extLst>
              <a:ext uri="{FF2B5EF4-FFF2-40B4-BE49-F238E27FC236}">
                <a16:creationId xmlns:a16="http://schemas.microsoft.com/office/drawing/2014/main" id="{9904DBB0-3A31-23AA-B0A2-2EF749126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50" y="23526385"/>
            <a:ext cx="15593530" cy="773812"/>
          </a:xfrm>
          <a:prstGeom prst="rect">
            <a:avLst/>
          </a:prstGeom>
          <a:solidFill>
            <a:srgbClr val="B4D5E5"/>
          </a:solidFill>
          <a:ln>
            <a:noFill/>
          </a:ln>
        </p:spPr>
        <p:txBody>
          <a:bodyPr/>
          <a:lstStyle>
            <a:defPPr>
              <a:defRPr lang="en-US"/>
            </a:defPPr>
            <a:lvl1pPr algn="ctr" defTabSz="2193925" eaLnBrk="1" hangingPunct="1">
              <a:defRPr sz="8672"/>
            </a:lvl1pPr>
            <a:lvl2pPr marL="742950" indent="-285750" defTabSz="2193925">
              <a:defRPr sz="22200"/>
            </a:lvl2pPr>
            <a:lvl3pPr marL="1143000" indent="-228600" defTabSz="2193925">
              <a:defRPr sz="22200"/>
            </a:lvl3pPr>
            <a:lvl4pPr marL="1600200" indent="-228600" defTabSz="2193925">
              <a:defRPr sz="22200"/>
            </a:lvl4pPr>
            <a:lvl5pPr marL="2057400" indent="-228600" defTabSz="2193925">
              <a:defRPr sz="22200"/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9pPr>
          </a:lstStyle>
          <a:p>
            <a:pPr algn="just"/>
            <a:r>
              <a:rPr lang="en-US" altLang="en-US" sz="2200" dirty="0">
                <a:latin typeface="Rockwell (body)"/>
                <a:cs typeface="Helvetica" panose="020B0604020202020204" pitchFamily="34" charset="0"/>
              </a:rPr>
              <a:t>Figure 1: represents the overall scheme of the proposed method involves the use of Hash-based Message Authentication code (HMAC) based key generation, chaotic encryption, and steganography to transmit and receive images safely </a:t>
            </a:r>
          </a:p>
        </p:txBody>
      </p:sp>
      <p:pic>
        <p:nvPicPr>
          <p:cNvPr id="4131" name="Picture 10" descr="SPIE-logo-cmyk.jpg">
            <a:extLst>
              <a:ext uri="{FF2B5EF4-FFF2-40B4-BE49-F238E27FC236}">
                <a16:creationId xmlns:a16="http://schemas.microsoft.com/office/drawing/2014/main" id="{CBDEA952-5B92-FE5A-6708-16DAFADAA9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01" y="336388"/>
            <a:ext cx="4211954" cy="120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41" name="Straight Connector 59">
            <a:extLst>
              <a:ext uri="{FF2B5EF4-FFF2-40B4-BE49-F238E27FC236}">
                <a16:creationId xmlns:a16="http://schemas.microsoft.com/office/drawing/2014/main" id="{26452569-37E6-01C1-4CBA-0664E4BD00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573500" y="5761951"/>
            <a:ext cx="127543" cy="31587479"/>
          </a:xfrm>
          <a:prstGeom prst="line">
            <a:avLst/>
          </a:prstGeom>
          <a:ln>
            <a:solidFill>
              <a:srgbClr val="2163A1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 Box 5">
            <a:extLst>
              <a:ext uri="{FF2B5EF4-FFF2-40B4-BE49-F238E27FC236}">
                <a16:creationId xmlns:a16="http://schemas.microsoft.com/office/drawing/2014/main" id="{07B3518F-2874-64A8-2082-ABF82116D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9217" y="30434443"/>
            <a:ext cx="10287000" cy="77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6727" tIns="78364" rIns="156727" bIns="78364">
            <a:spAutoFit/>
          </a:bodyPr>
          <a:lstStyle>
            <a:defPPr>
              <a:defRPr lang="en-US"/>
            </a:defPPr>
            <a:lvl1pPr algn="ctr" defTabSz="2193925" eaLnBrk="1" hangingPunct="1">
              <a:spcBef>
                <a:spcPct val="50000"/>
              </a:spcBef>
              <a:defRPr sz="4400" b="1">
                <a:solidFill>
                  <a:srgbClr val="0D0C0C"/>
                </a:solidFill>
                <a:latin typeface="Rockwell (headline)"/>
              </a:defRPr>
            </a:lvl1pPr>
            <a:lvl2pPr marL="742950" indent="-285750" defTabSz="2193925"/>
            <a:lvl3pPr marL="1143000" indent="-228600" defTabSz="2193925"/>
            <a:lvl4pPr marL="1600200" indent="-228600" defTabSz="2193925"/>
            <a:lvl5pPr marL="2057400" indent="-228600" defTabSz="2193925"/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en-US" sz="4000" dirty="0"/>
              <a:t>KEY Model / Mathematical Model</a:t>
            </a:r>
          </a:p>
        </p:txBody>
      </p:sp>
      <p:sp>
        <p:nvSpPr>
          <p:cNvPr id="34" name="TextBox 66">
            <a:extLst>
              <a:ext uri="{FF2B5EF4-FFF2-40B4-BE49-F238E27FC236}">
                <a16:creationId xmlns:a16="http://schemas.microsoft.com/office/drawing/2014/main" id="{95B23A09-878B-8578-543C-FFFB599D7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1352" y="23706159"/>
            <a:ext cx="14962734" cy="1582242"/>
          </a:xfrm>
          <a:prstGeom prst="rect">
            <a:avLst/>
          </a:prstGeom>
          <a:solidFill>
            <a:srgbClr val="B4D5E5"/>
          </a:solidFill>
          <a:ln>
            <a:noFill/>
          </a:ln>
        </p:spPr>
        <p:txBody>
          <a:bodyPr/>
          <a:lstStyle>
            <a:defPPr>
              <a:defRPr lang="en-US"/>
            </a:defPPr>
            <a:lvl1pPr algn="just" defTabSz="2193925" eaLnBrk="1" hangingPunct="1">
              <a:defRPr sz="2800">
                <a:latin typeface="Rockwell (body)"/>
                <a:cs typeface="Helvetica" panose="020B0604020202020204" pitchFamily="34" charset="0"/>
              </a:defRPr>
            </a:lvl1pPr>
            <a:lvl2pPr marL="742950" indent="-285750" defTabSz="2193925">
              <a:defRPr sz="22200"/>
            </a:lvl2pPr>
            <a:lvl3pPr marL="1143000" indent="-228600" defTabSz="2193925">
              <a:defRPr sz="22200"/>
            </a:lvl3pPr>
            <a:lvl4pPr marL="1600200" indent="-228600" defTabSz="2193925">
              <a:defRPr sz="22200"/>
            </a:lvl4pPr>
            <a:lvl5pPr marL="2057400" indent="-228600" defTabSz="2193925">
              <a:defRPr sz="22200"/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/>
            </a:lvl9pPr>
          </a:lstStyle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200" dirty="0">
                <a:effectLst/>
                <a:ea typeface="MS Mincho" panose="02020609040205080304" pitchFamily="49" charset="-128"/>
                <a:cs typeface="Arial" panose="020B0604020202020204" pitchFamily="34" charset="0"/>
              </a:rPr>
              <a:t>Figure 2: Integrative Encryption and Steganography Framework. The plaintext image is transformed into a high-entropy cipher with a uniform histogram through HMAC-driven chaotic encryption. This cipher is embedded into a cover image using WIFS to generate a visually imperceptible </a:t>
            </a:r>
            <a:r>
              <a:rPr lang="en-US" sz="2200" dirty="0" err="1">
                <a:effectLst/>
                <a:ea typeface="MS Mincho" panose="02020609040205080304" pitchFamily="49" charset="-128"/>
                <a:cs typeface="Arial" panose="020B0604020202020204" pitchFamily="34" charset="0"/>
              </a:rPr>
              <a:t>stego</a:t>
            </a:r>
            <a:r>
              <a:rPr lang="en-US" sz="2200" dirty="0">
                <a:effectLst/>
                <a:ea typeface="MS Mincho" panose="02020609040205080304" pitchFamily="49" charset="-128"/>
                <a:cs typeface="Arial" panose="020B0604020202020204" pitchFamily="34" charset="0"/>
              </a:rPr>
              <a:t>-image, followed by high-fidelity decryption for lossless recovery.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3E023799-34A6-CFA4-AB36-C136DFC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8121" y="25433971"/>
            <a:ext cx="10287000" cy="83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6727" tIns="78364" rIns="156727" bIns="78364">
            <a:spAutoFit/>
          </a:bodyPr>
          <a:lstStyle>
            <a:defPPr>
              <a:defRPr lang="en-US"/>
            </a:defPPr>
            <a:lvl1pPr algn="ctr" defTabSz="2193925" eaLnBrk="1" hangingPunct="1">
              <a:spcBef>
                <a:spcPct val="50000"/>
              </a:spcBef>
              <a:defRPr sz="4400" b="1">
                <a:solidFill>
                  <a:srgbClr val="0D0C0C"/>
                </a:solidFill>
                <a:latin typeface="Rockwell (headline)"/>
              </a:defRPr>
            </a:lvl1pPr>
            <a:lvl2pPr marL="742950" indent="-285750" defTabSz="2193925"/>
            <a:lvl3pPr marL="1143000" indent="-228600" defTabSz="2193925"/>
            <a:lvl4pPr marL="1600200" indent="-228600" defTabSz="2193925"/>
            <a:lvl5pPr marL="2057400" indent="-228600" defTabSz="2193925"/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en-US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72">
                <a:extLst>
                  <a:ext uri="{FF2B5EF4-FFF2-40B4-BE49-F238E27FC236}">
                    <a16:creationId xmlns:a16="http://schemas.microsoft.com/office/drawing/2014/main" id="{60341B1B-EC1C-8D95-DF05-9632EAAA4C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06003" y="26214214"/>
                <a:ext cx="15393432" cy="5565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81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457200" indent="-457200" algn="just" eaLnBrk="1" hangingPunct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en-US" sz="2400" dirty="0">
                    <a:latin typeface="Rockwell (body)"/>
                  </a:rPr>
                  <a:t>High decorrelation: correlation between adjacent pixels decreased from about 0.95 (before encryption) to about 0 (after encryption).</a:t>
                </a:r>
              </a:p>
              <a:p>
                <a:pPr marL="457200" indent="-457200" algn="just" eaLnBrk="1" hangingPunct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en-US" sz="2400" dirty="0">
                    <a:latin typeface="Rockwell (body)"/>
                  </a:rPr>
                  <a:t>High randomness: entropy approaches close to 8 (ideal value for 256-gray level image). </a:t>
                </a:r>
              </a:p>
              <a:p>
                <a:pPr marL="457200" indent="-457200" algn="just" eaLnBrk="1" hangingPunct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en-US" sz="2400" dirty="0">
                    <a:latin typeface="Rockwell (body)"/>
                  </a:rPr>
                  <a:t>High differential strength security:</a:t>
                </a:r>
              </a:p>
              <a:p>
                <a:pPr marL="914400" lvl="1" indent="-457200" algn="just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Rockwell (body)"/>
                  </a:rPr>
                  <a:t>Number of Pixel Change Rate 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𝑁𝑃𝐶𝑅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) &gt; 99.6%</a:t>
                </a:r>
              </a:p>
              <a:p>
                <a:pPr marL="914400" lvl="1" indent="-457200" algn="just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Rockwell (body)"/>
                  </a:rPr>
                  <a:t>Unified Average Change Intensity (UACI) approximates 33.4 % (approaches ideal value)</a:t>
                </a:r>
              </a:p>
              <a:p>
                <a:pPr marL="457200" indent="-457200" algn="just" eaLnBrk="1" hangingPunct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en-US" sz="2400" dirty="0">
                    <a:latin typeface="Rockwell (body)"/>
                  </a:rPr>
                  <a:t>High unpredictability (Steganography):</a:t>
                </a:r>
              </a:p>
              <a:p>
                <a:pPr marL="914400" lvl="1" indent="-457200" algn="just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Rockwell (body)"/>
                  </a:rPr>
                  <a:t>Peak-Signal-to-Noise-Ratio (PSNR) approximately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 dB (between stego and cover images).</a:t>
                </a:r>
              </a:p>
              <a:p>
                <a:pPr marL="914400" lvl="1" indent="-457200" algn="just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Rockwell (body)"/>
                  </a:rPr>
                  <a:t>Structural Similarity Index (SSI) approximately 0.999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 visually indistinguishable.</a:t>
                </a:r>
              </a:p>
              <a:p>
                <a:pPr marL="0" lvl="1" indent="-457200" algn="just" eaLnBrk="1" hangingPunct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en-US" sz="2400" dirty="0">
                    <a:latin typeface="Rockwell (body)"/>
                  </a:rPr>
                  <a:t>Accuracy in decryption: Lossless decryption process 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𝑆𝑆𝐼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𝑃𝑆𝑁𝑅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en-US" sz="2400" dirty="0">
                    <a:latin typeface="Rockwell (body)"/>
                  </a:rPr>
                  <a:t>).</a:t>
                </a:r>
              </a:p>
            </p:txBody>
          </p:sp>
        </mc:Choice>
        <mc:Fallback>
          <p:sp>
            <p:nvSpPr>
              <p:cNvPr id="2" name="TextBox 72">
                <a:extLst>
                  <a:ext uri="{FF2B5EF4-FFF2-40B4-BE49-F238E27FC236}">
                    <a16:creationId xmlns:a16="http://schemas.microsoft.com/office/drawing/2014/main" id="{60341B1B-EC1C-8D95-DF05-9632EAAA4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06003" y="26214214"/>
                <a:ext cx="15393432" cy="5565691"/>
              </a:xfrm>
              <a:prstGeom prst="rect">
                <a:avLst/>
              </a:prstGeom>
              <a:blipFill>
                <a:blip r:embed="rId7"/>
                <a:stretch>
                  <a:fillRect l="-554" r="-594" b="-15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blue and black logo&#10;&#10;AI-generated content may be incorrect.">
            <a:extLst>
              <a:ext uri="{FF2B5EF4-FFF2-40B4-BE49-F238E27FC236}">
                <a16:creationId xmlns:a16="http://schemas.microsoft.com/office/drawing/2014/main" id="{A216F3A1-E011-8181-7119-D30F72296E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0609" y="2758540"/>
            <a:ext cx="4539631" cy="2011680"/>
          </a:xfrm>
          <a:prstGeom prst="rect">
            <a:avLst/>
          </a:prstGeom>
        </p:spPr>
      </p:pic>
      <p:pic>
        <p:nvPicPr>
          <p:cNvPr id="19" name="Picture 18" descr="A logo of a company&#10;&#10;AI-generated content may be incorrect.">
            <a:extLst>
              <a:ext uri="{FF2B5EF4-FFF2-40B4-BE49-F238E27FC236}">
                <a16:creationId xmlns:a16="http://schemas.microsoft.com/office/drawing/2014/main" id="{210B4473-6EF5-BE5B-1B3D-788FB9A739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77551" y="131913"/>
            <a:ext cx="3831020" cy="2468880"/>
          </a:xfrm>
          <a:prstGeom prst="rect">
            <a:avLst/>
          </a:prstGeom>
        </p:spPr>
      </p:pic>
      <p:pic>
        <p:nvPicPr>
          <p:cNvPr id="21" name="Picture 20" descr="A black and red text&#10;&#10;AI-generated content may be incorrect.">
            <a:extLst>
              <a:ext uri="{FF2B5EF4-FFF2-40B4-BE49-F238E27FC236}">
                <a16:creationId xmlns:a16="http://schemas.microsoft.com/office/drawing/2014/main" id="{D5D72303-B743-6E6B-567D-12C3462CA0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418" y="2210843"/>
            <a:ext cx="2540131" cy="2540131"/>
          </a:xfrm>
          <a:prstGeom prst="rect">
            <a:avLst/>
          </a:prstGeom>
        </p:spPr>
      </p:pic>
      <p:pic>
        <p:nvPicPr>
          <p:cNvPr id="23" name="Picture 22" descr="A diagram of a computer algorithm">
            <a:extLst>
              <a:ext uri="{FF2B5EF4-FFF2-40B4-BE49-F238E27FC236}">
                <a16:creationId xmlns:a16="http://schemas.microsoft.com/office/drawing/2014/main" id="{CD48E61B-8D66-4514-A95C-8C6A8C0F97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424" y="14176963"/>
            <a:ext cx="15950128" cy="8971947"/>
          </a:xfrm>
          <a:prstGeom prst="rect">
            <a:avLst/>
          </a:prstGeom>
          <a:ln w="28575">
            <a:solidFill>
              <a:srgbClr val="0D0C0C"/>
            </a:solidFill>
          </a:ln>
        </p:spPr>
      </p:pic>
      <p:sp>
        <p:nvSpPr>
          <p:cNvPr id="3" name="Rectangle 52">
            <a:extLst>
              <a:ext uri="{FF2B5EF4-FFF2-40B4-BE49-F238E27FC236}">
                <a16:creationId xmlns:a16="http://schemas.microsoft.com/office/drawing/2014/main" id="{D09FE405-C82C-BF77-8329-AC954981399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73580" y="31285143"/>
            <a:ext cx="15544800" cy="45720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/>
          <a:lstStyle>
            <a:lvl1pPr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8672"/>
          </a:p>
        </p:txBody>
      </p:sp>
      <p:pic>
        <p:nvPicPr>
          <p:cNvPr id="11" name="Picture 10" descr="A collage of images of different objects&#10;&#10;AI-generated content may be incorrect.">
            <a:extLst>
              <a:ext uri="{FF2B5EF4-FFF2-40B4-BE49-F238E27FC236}">
                <a16:creationId xmlns:a16="http://schemas.microsoft.com/office/drawing/2014/main" id="{955A6656-4A1A-11CF-E2F4-E20BABA129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09713" y="14762439"/>
            <a:ext cx="14962734" cy="8879922"/>
          </a:xfrm>
          <a:prstGeom prst="rect">
            <a:avLst/>
          </a:prstGeom>
        </p:spPr>
      </p:pic>
      <p:sp>
        <p:nvSpPr>
          <p:cNvPr id="12" name="Rectangle 52">
            <a:extLst>
              <a:ext uri="{FF2B5EF4-FFF2-40B4-BE49-F238E27FC236}">
                <a16:creationId xmlns:a16="http://schemas.microsoft.com/office/drawing/2014/main" id="{A68C45C3-C90C-5AAE-D9B7-7FE2C48A18A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6814053" y="26103974"/>
            <a:ext cx="15544800" cy="45720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/>
          <a:lstStyle>
            <a:lvl1pPr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8672"/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5A314422-0937-BF71-A37D-2B398C311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4281" y="31543968"/>
            <a:ext cx="10287000" cy="83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6727" tIns="78364" rIns="156727" bIns="78364">
            <a:spAutoFit/>
          </a:bodyPr>
          <a:lstStyle>
            <a:defPPr>
              <a:defRPr lang="en-US"/>
            </a:defPPr>
            <a:lvl1pPr algn="ctr" defTabSz="2193925" eaLnBrk="1" hangingPunct="1">
              <a:spcBef>
                <a:spcPct val="50000"/>
              </a:spcBef>
              <a:defRPr sz="4400" b="1">
                <a:solidFill>
                  <a:srgbClr val="0D0C0C"/>
                </a:solidFill>
                <a:latin typeface="Rockwell (headline)"/>
              </a:defRPr>
            </a:lvl1pPr>
            <a:lvl2pPr marL="742950" indent="-285750" defTabSz="2193925"/>
            <a:lvl3pPr marL="1143000" indent="-228600" defTabSz="2193925"/>
            <a:lvl4pPr marL="1600200" indent="-228600" defTabSz="2193925"/>
            <a:lvl5pPr marL="2057400" indent="-228600" defTabSz="2193925"/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en-US" dirty="0"/>
              <a:t>conclusion</a:t>
            </a:r>
          </a:p>
        </p:txBody>
      </p:sp>
      <p:sp>
        <p:nvSpPr>
          <p:cNvPr id="24" name="Rectangle 52">
            <a:extLst>
              <a:ext uri="{FF2B5EF4-FFF2-40B4-BE49-F238E27FC236}">
                <a16:creationId xmlns:a16="http://schemas.microsoft.com/office/drawing/2014/main" id="{5E1BF75D-6AAD-D1F4-BD05-54E7A0E938E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056506" y="32302170"/>
            <a:ext cx="15544800" cy="45720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/>
          <a:lstStyle>
            <a:lvl1pPr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8672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80790C-6964-F596-CF07-118D791C3528}"/>
              </a:ext>
            </a:extLst>
          </p:cNvPr>
          <p:cNvSpPr txBox="1"/>
          <p:nvPr/>
        </p:nvSpPr>
        <p:spPr>
          <a:xfrm>
            <a:off x="16877898" y="32475309"/>
            <a:ext cx="1578098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Rockwell (body)"/>
              </a:rPr>
              <a:t>Our proposed technique is an integration of HMAC-SHA-256, PWLM chaotic encryption, and WIFS steganography.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Rockwell (body)"/>
              </a:rPr>
              <a:t>Our results demonstrates high security with resistance against attacks based on statistics and differentials.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Rockwell (body)"/>
              </a:rPr>
              <a:t>It ensures high imperceptibility and accurate (lossless) image recovery.</a:t>
            </a: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4A1FC5A5-9725-A91B-CABA-F74058B5A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4888" y="5944087"/>
            <a:ext cx="10287000" cy="83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6727" tIns="78364" rIns="156727" bIns="78364">
            <a:spAutoFit/>
          </a:bodyPr>
          <a:lstStyle>
            <a:defPPr>
              <a:defRPr lang="en-US"/>
            </a:defPPr>
            <a:lvl1pPr algn="ctr" defTabSz="2193925" eaLnBrk="1" hangingPunct="1">
              <a:spcBef>
                <a:spcPct val="50000"/>
              </a:spcBef>
              <a:defRPr sz="4400" b="1">
                <a:solidFill>
                  <a:srgbClr val="0D0C0C"/>
                </a:solidFill>
                <a:latin typeface="Rockwell (headline)"/>
              </a:defRPr>
            </a:lvl1pPr>
            <a:lvl2pPr marL="742950" indent="-285750" defTabSz="2193925"/>
            <a:lvl3pPr marL="1143000" indent="-228600" defTabSz="2193925"/>
            <a:lvl4pPr marL="1600200" indent="-228600" defTabSz="2193925"/>
            <a:lvl5pPr marL="2057400" indent="-228600" defTabSz="2193925"/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en-US" dirty="0"/>
              <a:t>Key Equations</a:t>
            </a:r>
          </a:p>
        </p:txBody>
      </p:sp>
      <p:sp>
        <p:nvSpPr>
          <p:cNvPr id="28" name="Rectangle 52">
            <a:extLst>
              <a:ext uri="{FF2B5EF4-FFF2-40B4-BE49-F238E27FC236}">
                <a16:creationId xmlns:a16="http://schemas.microsoft.com/office/drawing/2014/main" id="{AA4AC2B2-E39E-40EB-3541-714C51CFD0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6793931" y="6726820"/>
            <a:ext cx="15544800" cy="45719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/>
          <a:lstStyle>
            <a:lvl1pPr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8672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B70A7A-3A0A-2C0B-CDC2-6711CA9F6500}"/>
              </a:ext>
            </a:extLst>
          </p:cNvPr>
          <p:cNvSpPr txBox="1"/>
          <p:nvPr/>
        </p:nvSpPr>
        <p:spPr>
          <a:xfrm>
            <a:off x="18924250" y="35501459"/>
            <a:ext cx="11568112" cy="138499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Rockwell (body)"/>
              </a:rPr>
              <a:t>For further information or inquiries, please feel free to contact:</a:t>
            </a:r>
            <a:br>
              <a:rPr lang="en-US" sz="2800" dirty="0">
                <a:latin typeface="Rockwell (body)"/>
              </a:rPr>
            </a:br>
            <a:r>
              <a:rPr lang="en-US" sz="2800" dirty="0">
                <a:latin typeface="Rockwell (body)"/>
                <a:hlinkClick r:id="rId13"/>
              </a:rPr>
              <a:t>Mahmoud.karmany@isen-ouest.yncrea.fr</a:t>
            </a:r>
            <a:br>
              <a:rPr lang="en-US" sz="2800" dirty="0">
                <a:latin typeface="Rockwell (body)"/>
              </a:rPr>
            </a:br>
            <a:r>
              <a:rPr lang="en-US" sz="2800" dirty="0">
                <a:latin typeface="Rockwell (body)"/>
                <a:hlinkClick r:id="rId14"/>
              </a:rPr>
              <a:t>mahmod.karmany@ensta.fr</a:t>
            </a:r>
            <a:endParaRPr lang="en-US" sz="2800" dirty="0">
              <a:latin typeface="Rockwell (body)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7C8CE256-0736-7AA0-9BFF-246483A48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12" y="6018220"/>
            <a:ext cx="10287000" cy="77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56727" tIns="78364" rIns="156727" bIns="78364">
            <a:spAutoFit/>
          </a:bodyPr>
          <a:lstStyle>
            <a:lvl1pPr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>
                <a:solidFill>
                  <a:srgbClr val="0D0C0C"/>
                </a:solidFill>
                <a:latin typeface="Rockwell (headline)"/>
              </a:rPr>
              <a:t>INTRODUCTION</a:t>
            </a:r>
          </a:p>
        </p:txBody>
      </p:sp>
      <p:sp>
        <p:nvSpPr>
          <p:cNvPr id="15" name="Rectangle 52">
            <a:extLst>
              <a:ext uri="{FF2B5EF4-FFF2-40B4-BE49-F238E27FC236}">
                <a16:creationId xmlns:a16="http://schemas.microsoft.com/office/drawing/2014/main" id="{21C5E9F1-32A1-50B7-0832-66A6C609200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7999" y="6766829"/>
            <a:ext cx="16050604" cy="45719"/>
          </a:xfrm>
          <a:prstGeom prst="rect">
            <a:avLst/>
          </a:prstGeom>
          <a:solidFill>
            <a:srgbClr val="2163A1"/>
          </a:solidFill>
          <a:ln>
            <a:noFill/>
          </a:ln>
        </p:spPr>
        <p:txBody>
          <a:bodyPr/>
          <a:lstStyle>
            <a:lvl1pPr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2193925"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222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8672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A02948-7888-2161-4D2F-CA0CF2CB0930}"/>
                  </a:ext>
                </a:extLst>
              </p:cNvPr>
              <p:cNvSpPr txBox="1"/>
              <p:nvPr/>
            </p:nvSpPr>
            <p:spPr>
              <a:xfrm>
                <a:off x="480437" y="26049330"/>
                <a:ext cx="15879155" cy="3840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HMAC-Driven Initialization:</a:t>
                </a:r>
                <a:r>
                  <a:rPr lang="en-US" sz="2400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 Uses HMAC-SHA-256 to generate unique initial conditions based on both the secret key and the plaintext, preventing known-plaintext attacks.</a:t>
                </a:r>
              </a:p>
              <a:p>
                <a:pPr marL="342900" marR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Integrative Security Framework: </a:t>
                </a:r>
                <a:r>
                  <a:rPr lang="en-US" sz="2400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Combines encryption and steganography into a single, cohesive architecture rather than treating them as isolated steps.</a:t>
                </a:r>
              </a:p>
              <a:p>
                <a:pPr marL="342900" marR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Hybrid Chaos-Fusion Strategy: </a:t>
                </a:r>
                <a:r>
                  <a:rPr lang="en-US" sz="2400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Employs a Piece-Wise Linear Chaotic Map (PWLCM) for high-sensitivity encryption paired with Weighted Image Fusion Steganography (WIFS) for secure embedding.</a:t>
                </a:r>
              </a:p>
              <a:p>
                <a:pPr marL="342900" marR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Tunable Robustness: </a:t>
                </a:r>
                <a:r>
                  <a:rPr lang="en-US" sz="2400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Introduces an adjustable embedding rate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Rockwell (body)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2400" dirty="0">
                    <a:effectLst/>
                    <a:latin typeface="Rockwell (body)"/>
                    <a:ea typeface="MS Mincho" panose="02020609040205080304" pitchFamily="49" charset="-128"/>
                    <a:cs typeface="Arial" panose="020B0604020202020204" pitchFamily="34" charset="0"/>
                  </a:rPr>
                  <a:t>) to achieve an optimal balance between data security and visual imperceptibility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A02948-7888-2161-4D2F-CA0CF2CB0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37" y="26049330"/>
                <a:ext cx="15879155" cy="3840603"/>
              </a:xfrm>
              <a:prstGeom prst="rect">
                <a:avLst/>
              </a:prstGeom>
              <a:blipFill>
                <a:blip r:embed="rId15"/>
                <a:stretch>
                  <a:fillRect l="-537" t="-794" r="-576" b="-2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21939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600" b="0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Arial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21939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600" b="0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Arial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202EE7DF2754AB363437C50FB568B" ma:contentTypeVersion="13" ma:contentTypeDescription="Create a new document." ma:contentTypeScope="" ma:versionID="78b19e2dbaa6cae48ba0268644db187d">
  <xsd:schema xmlns:xsd="http://www.w3.org/2001/XMLSchema" xmlns:xs="http://www.w3.org/2001/XMLSchema" xmlns:p="http://schemas.microsoft.com/office/2006/metadata/properties" xmlns:ns3="3829850a-2b25-4f57-9dc9-7dbfa557691e" xmlns:ns4="52f16efb-c25e-4787-ac58-d86cdc4109e7" targetNamespace="http://schemas.microsoft.com/office/2006/metadata/properties" ma:root="true" ma:fieldsID="685450a2e867fe99da436618bc972568" ns3:_="" ns4:_="">
    <xsd:import namespace="3829850a-2b25-4f57-9dc9-7dbfa557691e"/>
    <xsd:import namespace="52f16efb-c25e-4787-ac58-d86cdc4109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29850a-2b25-4f57-9dc9-7dbfa5576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16efb-c25e-4787-ac58-d86cdc4109e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DB68FB-3304-43DC-8371-E27ED0CD42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5E839C-42C3-4BEA-AF47-0C29FA1EBC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29850a-2b25-4f57-9dc9-7dbfa557691e"/>
    <ds:schemaRef ds:uri="52f16efb-c25e-4787-ac58-d86cdc4109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182154-97C9-4940-94FF-51E777757D4C}">
  <ds:schemaRefs>
    <ds:schemaRef ds:uri="3829850a-2b25-4f57-9dc9-7dbfa557691e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52f16efb-c25e-4787-ac58-d86cdc4109e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2725</TotalTime>
  <Words>835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MS Mincho</vt:lpstr>
      <vt:lpstr>Arial</vt:lpstr>
      <vt:lpstr>Cambria Math</vt:lpstr>
      <vt:lpstr>CMR12</vt:lpstr>
      <vt:lpstr>CMR8</vt:lpstr>
      <vt:lpstr>Helvetica</vt:lpstr>
      <vt:lpstr>Rockwell (body)</vt:lpstr>
      <vt:lpstr>Rockwell (headline)</vt:lpstr>
      <vt:lpstr>Wingdings</vt:lpstr>
      <vt:lpstr>Default Design</vt:lpstr>
      <vt:lpstr>PowerPoint Presentation</vt:lpstr>
    </vt:vector>
  </TitlesOfParts>
  <Company>SciFor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Posters1st</dc:creator>
  <cp:lastModifiedBy>Mahmoud KARMANY</cp:lastModifiedBy>
  <cp:revision>281</cp:revision>
  <cp:lastPrinted>2026-04-27T14:41:03Z</cp:lastPrinted>
  <dcterms:created xsi:type="dcterms:W3CDTF">2003-12-17T18:44:28Z</dcterms:created>
  <dcterms:modified xsi:type="dcterms:W3CDTF">2026-04-28T12:19:20Z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0x0101007B7202EE7DF2754AB363437C50FB568B</vt:lpwstr>
  </property>
</Properties>
</file>